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DF5BF3-B01D-4BED-9D14-E269E53F871A}" v="3" dt="2022-10-10T18:38:46.657"/>
    <p1510:client id="{3BF29640-AC40-4A36-9177-FB9BE121FDDE}" v="2" dt="2022-11-10T15:54:21.015"/>
    <p1510:client id="{3D029E2A-75BF-497D-A8D1-C2C7712BEE94}" v="5" dt="2022-11-11T06:53:12.261"/>
    <p1510:client id="{EBAA846A-0361-4C19-927F-9366FD7A5C37}" v="9" dt="2023-01-13T07:02:34.5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álík Antonín" userId="S::kralik.antonin@student.sposdk.cz::9986fb8f-58e1-4283-a044-ae1ce28252bc" providerId="AD" clId="Web-{3D029E2A-75BF-497D-A8D1-C2C7712BEE94}"/>
    <pc:docChg chg="modSld">
      <pc:chgData name="Králík Antonín" userId="S::kralik.antonin@student.sposdk.cz::9986fb8f-58e1-4283-a044-ae1ce28252bc" providerId="AD" clId="Web-{3D029E2A-75BF-497D-A8D1-C2C7712BEE94}" dt="2022-11-11T06:53:12.261" v="4" actId="20577"/>
      <pc:docMkLst>
        <pc:docMk/>
      </pc:docMkLst>
      <pc:sldChg chg="modSp">
        <pc:chgData name="Králík Antonín" userId="S::kralik.antonin@student.sposdk.cz::9986fb8f-58e1-4283-a044-ae1ce28252bc" providerId="AD" clId="Web-{3D029E2A-75BF-497D-A8D1-C2C7712BEE94}" dt="2022-11-11T06:53:12.261" v="4" actId="20577"/>
        <pc:sldMkLst>
          <pc:docMk/>
          <pc:sldMk cId="2491007076" sldId="257"/>
        </pc:sldMkLst>
        <pc:spChg chg="mod">
          <ac:chgData name="Králík Antonín" userId="S::kralik.antonin@student.sposdk.cz::9986fb8f-58e1-4283-a044-ae1ce28252bc" providerId="AD" clId="Web-{3D029E2A-75BF-497D-A8D1-C2C7712BEE94}" dt="2022-11-11T06:53:12.261" v="4" actId="20577"/>
          <ac:spMkLst>
            <pc:docMk/>
            <pc:sldMk cId="2491007076" sldId="257"/>
            <ac:spMk id="3" creationId="{00000000-0000-0000-0000-000000000000}"/>
          </ac:spMkLst>
        </pc:spChg>
      </pc:sldChg>
    </pc:docChg>
  </pc:docChgLst>
  <pc:docChgLst>
    <pc:chgData name="Lasíková Lucie" userId="S::lasikova.lucie@student.sposdk.cz::b76bc85a-66e2-4ba6-89be-3b585b4e39ae" providerId="AD" clId="Web-{37DF5BF3-B01D-4BED-9D14-E269E53F871A}"/>
    <pc:docChg chg="modSld">
      <pc:chgData name="Lasíková Lucie" userId="S::lasikova.lucie@student.sposdk.cz::b76bc85a-66e2-4ba6-89be-3b585b4e39ae" providerId="AD" clId="Web-{37DF5BF3-B01D-4BED-9D14-E269E53F871A}" dt="2022-10-10T18:38:44.922" v="1" actId="20577"/>
      <pc:docMkLst>
        <pc:docMk/>
      </pc:docMkLst>
      <pc:sldChg chg="modSp">
        <pc:chgData name="Lasíková Lucie" userId="S::lasikova.lucie@student.sposdk.cz::b76bc85a-66e2-4ba6-89be-3b585b4e39ae" providerId="AD" clId="Web-{37DF5BF3-B01D-4BED-9D14-E269E53F871A}" dt="2022-10-10T18:38:44.922" v="1" actId="20577"/>
        <pc:sldMkLst>
          <pc:docMk/>
          <pc:sldMk cId="2491007076" sldId="257"/>
        </pc:sldMkLst>
        <pc:spChg chg="mod">
          <ac:chgData name="Lasíková Lucie" userId="S::lasikova.lucie@student.sposdk.cz::b76bc85a-66e2-4ba6-89be-3b585b4e39ae" providerId="AD" clId="Web-{37DF5BF3-B01D-4BED-9D14-E269E53F871A}" dt="2022-10-10T18:38:44.922" v="1" actId="20577"/>
          <ac:spMkLst>
            <pc:docMk/>
            <pc:sldMk cId="2491007076" sldId="257"/>
            <ac:spMk id="3" creationId="{00000000-0000-0000-0000-000000000000}"/>
          </ac:spMkLst>
        </pc:spChg>
      </pc:sldChg>
    </pc:docChg>
  </pc:docChgLst>
  <pc:docChgLst>
    <pc:chgData name="Kuchař Martin" userId="S::kuchar.martin@student.sposdk.cz::bdf7a19e-647e-4f26-b105-082c21d9f27d" providerId="AD" clId="Web-{EBAA846A-0361-4C19-927F-9366FD7A5C37}"/>
    <pc:docChg chg="addSld delSld modSld">
      <pc:chgData name="Kuchař Martin" userId="S::kuchar.martin@student.sposdk.cz::bdf7a19e-647e-4f26-b105-082c21d9f27d" providerId="AD" clId="Web-{EBAA846A-0361-4C19-927F-9366FD7A5C37}" dt="2023-01-13T07:02:34.566" v="7" actId="20577"/>
      <pc:docMkLst>
        <pc:docMk/>
      </pc:docMkLst>
      <pc:sldChg chg="modSp">
        <pc:chgData name="Kuchař Martin" userId="S::kuchar.martin@student.sposdk.cz::bdf7a19e-647e-4f26-b105-082c21d9f27d" providerId="AD" clId="Web-{EBAA846A-0361-4C19-927F-9366FD7A5C37}" dt="2023-01-13T07:02:34.566" v="7" actId="20577"/>
        <pc:sldMkLst>
          <pc:docMk/>
          <pc:sldMk cId="2491007076" sldId="257"/>
        </pc:sldMkLst>
        <pc:spChg chg="mod">
          <ac:chgData name="Kuchař Martin" userId="S::kuchar.martin@student.sposdk.cz::bdf7a19e-647e-4f26-b105-082c21d9f27d" providerId="AD" clId="Web-{EBAA846A-0361-4C19-927F-9366FD7A5C37}" dt="2023-01-13T07:02:34.566" v="7" actId="20577"/>
          <ac:spMkLst>
            <pc:docMk/>
            <pc:sldMk cId="2491007076" sldId="257"/>
            <ac:spMk id="3" creationId="{00000000-0000-0000-0000-000000000000}"/>
          </ac:spMkLst>
        </pc:spChg>
      </pc:sldChg>
      <pc:sldChg chg="modSp">
        <pc:chgData name="Kuchař Martin" userId="S::kuchar.martin@student.sposdk.cz::bdf7a19e-647e-4f26-b105-082c21d9f27d" providerId="AD" clId="Web-{EBAA846A-0361-4C19-927F-9366FD7A5C37}" dt="2023-01-13T07:00:47.250" v="4" actId="14100"/>
        <pc:sldMkLst>
          <pc:docMk/>
          <pc:sldMk cId="4263566446" sldId="260"/>
        </pc:sldMkLst>
        <pc:cxnChg chg="mod">
          <ac:chgData name="Kuchař Martin" userId="S::kuchar.martin@student.sposdk.cz::bdf7a19e-647e-4f26-b105-082c21d9f27d" providerId="AD" clId="Web-{EBAA846A-0361-4C19-927F-9366FD7A5C37}" dt="2023-01-13T07:00:47.250" v="4" actId="14100"/>
          <ac:cxnSpMkLst>
            <pc:docMk/>
            <pc:sldMk cId="4263566446" sldId="260"/>
            <ac:cxnSpMk id="19" creationId="{00000000-0000-0000-0000-000000000000}"/>
          </ac:cxnSpMkLst>
        </pc:cxnChg>
      </pc:sldChg>
      <pc:sldChg chg="new del">
        <pc:chgData name="Kuchař Martin" userId="S::kuchar.martin@student.sposdk.cz::bdf7a19e-647e-4f26-b105-082c21d9f27d" providerId="AD" clId="Web-{EBAA846A-0361-4C19-927F-9366FD7A5C37}" dt="2023-01-13T06:59:47.935" v="1"/>
        <pc:sldMkLst>
          <pc:docMk/>
          <pc:sldMk cId="3343717720" sldId="263"/>
        </pc:sldMkLst>
      </pc:sldChg>
    </pc:docChg>
  </pc:docChgLst>
  <pc:docChgLst>
    <pc:chgData name="Králík Antonín" userId="S::kralik.antonin@student.sposdk.cz::9986fb8f-58e1-4283-a044-ae1ce28252bc" providerId="AD" clId="Web-{3BF29640-AC40-4A36-9177-FB9BE121FDDE}"/>
    <pc:docChg chg="modSld">
      <pc:chgData name="Králík Antonín" userId="S::kralik.antonin@student.sposdk.cz::9986fb8f-58e1-4283-a044-ae1ce28252bc" providerId="AD" clId="Web-{3BF29640-AC40-4A36-9177-FB9BE121FDDE}" dt="2022-11-10T15:54:21.015" v="1" actId="20577"/>
      <pc:docMkLst>
        <pc:docMk/>
      </pc:docMkLst>
      <pc:sldChg chg="modSp">
        <pc:chgData name="Králík Antonín" userId="S::kralik.antonin@student.sposdk.cz::9986fb8f-58e1-4283-a044-ae1ce28252bc" providerId="AD" clId="Web-{3BF29640-AC40-4A36-9177-FB9BE121FDDE}" dt="2022-11-10T15:54:21.015" v="1" actId="20577"/>
        <pc:sldMkLst>
          <pc:docMk/>
          <pc:sldMk cId="886797620" sldId="259"/>
        </pc:sldMkLst>
        <pc:spChg chg="mod">
          <ac:chgData name="Králík Antonín" userId="S::kralik.antonin@student.sposdk.cz::9986fb8f-58e1-4283-a044-ae1ce28252bc" providerId="AD" clId="Web-{3BF29640-AC40-4A36-9177-FB9BE121FDDE}" dt="2022-11-10T15:54:21.015" v="1" actId="20577"/>
          <ac:spMkLst>
            <pc:docMk/>
            <pc:sldMk cId="886797620" sldId="25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/>
              <a:t>Kliknutím na ikonu přidáte obrázek.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s.wikipedia.org/wiki/V%C3%BDvojov%C3%BD_diagram" TargetMode="External"/><Relationship Id="rId2" Type="http://schemas.openxmlformats.org/officeDocument/2006/relationships/hyperlink" Target="https://cs.wikipedia.org/wiki/Algoritmu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/>
              <a:t>Algoritmy a</a:t>
            </a:r>
            <a:br>
              <a:rPr lang="cs-CZ"/>
            </a:br>
            <a:r>
              <a:rPr lang="cs-CZ"/>
              <a:t>Vývojové diagramy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/>
              <a:t>1.I</a:t>
            </a:r>
          </a:p>
        </p:txBody>
      </p:sp>
    </p:spTree>
    <p:extLst>
      <p:ext uri="{BB962C8B-B14F-4D97-AF65-F5344CB8AC3E}">
        <p14:creationId xmlns:p14="http://schemas.microsoft.com/office/powerpoint/2010/main" val="3336530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903446" cy="706964"/>
          </a:xfrm>
        </p:spPr>
        <p:txBody>
          <a:bodyPr/>
          <a:lstStyle/>
          <a:p>
            <a:r>
              <a:rPr lang="cs-CZ"/>
              <a:t>Definice a základní vlastnosti algoritmu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154954" y="2603499"/>
            <a:ext cx="9316684" cy="38940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b="1"/>
              <a:t>Algoritmus</a:t>
            </a:r>
            <a:r>
              <a:rPr lang="cs-CZ"/>
              <a:t> je přesný návod či postup, kterým se řeší dané úlohy. Tento pojem se využívá v programování a vyjadřuje nám vždy jen </a:t>
            </a:r>
            <a:r>
              <a:rPr lang="cs-CZ" b="1"/>
              <a:t>teoretický</a:t>
            </a:r>
            <a:r>
              <a:rPr lang="cs-CZ"/>
              <a:t> model.</a:t>
            </a:r>
          </a:p>
          <a:p>
            <a:r>
              <a:rPr lang="cs-CZ"/>
              <a:t>Vlastnosti:</a:t>
            </a:r>
          </a:p>
          <a:p>
            <a:pPr lvl="1"/>
            <a:r>
              <a:rPr lang="cs-CZ" b="1"/>
              <a:t>Elementárnost: </a:t>
            </a:r>
            <a:r>
              <a:rPr lang="cs-CZ"/>
              <a:t>Každý algoritmus má určitý počet kroků, které se během jeho průchodu nemění</a:t>
            </a:r>
            <a:endParaRPr lang="cs-CZ" b="1"/>
          </a:p>
          <a:p>
            <a:pPr lvl="1"/>
            <a:r>
              <a:rPr lang="cs-CZ" b="1"/>
              <a:t>Konečnost: </a:t>
            </a:r>
            <a:r>
              <a:rPr lang="cs-CZ"/>
              <a:t>Každý algoritmus musí mít své ukončení, kdy počet kroků není důležitý</a:t>
            </a:r>
            <a:endParaRPr lang="cs-CZ" b="1"/>
          </a:p>
          <a:p>
            <a:pPr lvl="1"/>
            <a:r>
              <a:rPr lang="cs-CZ" b="1"/>
              <a:t>Obecnost: </a:t>
            </a:r>
            <a:r>
              <a:rPr lang="cs-CZ"/>
              <a:t>Algoritmus by měl napsán, aby byl schopen provádět stejné operace nezávisle na vstupních datech (místo 5</a:t>
            </a:r>
            <a:r>
              <a:rPr lang="en-GB"/>
              <a:t>+</a:t>
            </a:r>
            <a:r>
              <a:rPr lang="cs-CZ"/>
              <a:t>5 by měl být schopen řešit součet dvou čísel)</a:t>
            </a:r>
            <a:endParaRPr lang="cs-CZ" b="1"/>
          </a:p>
          <a:p>
            <a:pPr lvl="1"/>
            <a:r>
              <a:rPr lang="cs-CZ" b="1"/>
              <a:t>Determinovanost: </a:t>
            </a:r>
            <a:r>
              <a:rPr lang="cs-CZ"/>
              <a:t>Pokud algoritmus má stejné vstupy, tak musí mít vždy stejné výstupy</a:t>
            </a:r>
            <a:endParaRPr lang="cs-CZ" b="1"/>
          </a:p>
          <a:p>
            <a:pPr lvl="1"/>
            <a:r>
              <a:rPr lang="cs-CZ" b="1"/>
              <a:t>Determinismus: </a:t>
            </a:r>
            <a:r>
              <a:rPr lang="cs-CZ"/>
              <a:t> Každý krok algoritmu musí být jasně a přesně definovaný</a:t>
            </a:r>
            <a:endParaRPr lang="cs-CZ" b="1"/>
          </a:p>
          <a:p>
            <a:pPr lvl="1"/>
            <a:r>
              <a:rPr lang="cs-CZ" b="1"/>
              <a:t>Výstup: </a:t>
            </a:r>
            <a:r>
              <a:rPr lang="cs-CZ"/>
              <a:t>Každý algoritmus musí mít vždy nějaký výstup, dle kterého ověříme funkčnost</a:t>
            </a:r>
          </a:p>
        </p:txBody>
      </p:sp>
    </p:spTree>
    <p:extLst>
      <p:ext uri="{BB962C8B-B14F-4D97-AF65-F5344CB8AC3E}">
        <p14:creationId xmlns:p14="http://schemas.microsoft.com/office/powerpoint/2010/main" val="2491007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Příklady algoritmů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850054"/>
          </a:xfrm>
        </p:spPr>
        <p:txBody>
          <a:bodyPr>
            <a:normAutofit/>
          </a:bodyPr>
          <a:lstStyle/>
          <a:p>
            <a:r>
              <a:rPr lang="cs-CZ"/>
              <a:t>Algoritmy se používají téměř všude a můžeme se tedy s nimi setkat kdekoliv. </a:t>
            </a:r>
          </a:p>
          <a:p>
            <a:r>
              <a:rPr lang="cs-CZ"/>
              <a:t>Příklady:</a:t>
            </a:r>
          </a:p>
          <a:p>
            <a:pPr lvl="1"/>
            <a:r>
              <a:rPr lang="cs-CZ" b="1"/>
              <a:t>Recepty: </a:t>
            </a:r>
            <a:r>
              <a:rPr lang="cs-CZ"/>
              <a:t>Jakýkoliv recept v kuchařce se dá brát jako algoritmus. Má určitý počet kroků, má vždy konec, pokud budeme postupovat dle receptu, tak výsledek by měl být vždy stejný.</a:t>
            </a:r>
          </a:p>
          <a:p>
            <a:pPr lvl="1"/>
            <a:r>
              <a:rPr lang="cs-CZ" b="1"/>
              <a:t>Řešení matematických rovnic: </a:t>
            </a:r>
            <a:r>
              <a:rPr lang="cs-CZ"/>
              <a:t>Pokud počítáme jakoukoliv rovnici tak máme vždy daný postup s počtem kroků (kdy se některé ale mohou přeskočit ale definice má daný počet). Vždy když počítáme stejnou rovnici vícekrát, tak výsledek bude vždy stejný, vždy dostaneme nějaký výsledek.</a:t>
            </a:r>
          </a:p>
          <a:p>
            <a:pPr lvl="1"/>
            <a:r>
              <a:rPr lang="cs-CZ" b="1"/>
              <a:t>Jakákoliv aplikace: </a:t>
            </a:r>
            <a:r>
              <a:rPr lang="cs-CZ"/>
              <a:t>Všechny aplikace jsou algoritmy, kdy některé jsou jednodušší, jiné zas složitější a některé se skládají z více algoritmů</a:t>
            </a:r>
            <a:endParaRPr lang="cs-CZ" b="1"/>
          </a:p>
        </p:txBody>
      </p:sp>
    </p:spTree>
    <p:extLst>
      <p:ext uri="{BB962C8B-B14F-4D97-AF65-F5344CB8AC3E}">
        <p14:creationId xmlns:p14="http://schemas.microsoft.com/office/powerpoint/2010/main" val="580380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Vývojové diagramy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Vývojové diagramy se využívají ke grafickému znázornění algoritmů. </a:t>
            </a:r>
          </a:p>
          <a:p>
            <a:r>
              <a:rPr lang="cs-CZ"/>
              <a:t>Základní prvky Vývojových diagramů:</a:t>
            </a:r>
          </a:p>
          <a:p>
            <a:pPr lvl="1"/>
            <a:r>
              <a:rPr lang="cs-CZ"/>
              <a:t>Obdélník: Nám znázorňuje vykonání nějaké operace/příkazu (rozsviť, sečti)</a:t>
            </a:r>
          </a:p>
          <a:p>
            <a:pPr lvl="1"/>
            <a:r>
              <a:rPr lang="cs-CZ"/>
              <a:t>Kosodélník: Nám znázorňuje podmínku která má buď jeden nebo dva výstupy</a:t>
            </a:r>
          </a:p>
          <a:p>
            <a:pPr lvl="1"/>
            <a:r>
              <a:rPr lang="cs-CZ"/>
              <a:t>Zaoblený obdélník: Nám znázorňuje začátek a konec programu/algoritmu </a:t>
            </a:r>
          </a:p>
          <a:p>
            <a:pPr lvl="1"/>
            <a:r>
              <a:rPr lang="cs-CZ"/>
              <a:t>Kruh: Nám znázorňuje spojení více šipek do jednoho směru</a:t>
            </a:r>
          </a:p>
          <a:p>
            <a:pPr lvl="1"/>
            <a:r>
              <a:rPr lang="cs-CZ"/>
              <a:t>Šipky: nám znázorňují postup mezi prvky a jakým směrem se pohybujeme</a:t>
            </a:r>
          </a:p>
        </p:txBody>
      </p:sp>
    </p:spTree>
    <p:extLst>
      <p:ext uri="{BB962C8B-B14F-4D97-AF65-F5344CB8AC3E}">
        <p14:creationId xmlns:p14="http://schemas.microsoft.com/office/powerpoint/2010/main" val="886797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Ukázka 1, žárovka</a:t>
            </a:r>
          </a:p>
        </p:txBody>
      </p:sp>
      <p:sp>
        <p:nvSpPr>
          <p:cNvPr id="4" name="Zaoblený obdélník 3"/>
          <p:cNvSpPr/>
          <p:nvPr/>
        </p:nvSpPr>
        <p:spPr>
          <a:xfrm>
            <a:off x="1248507" y="2250831"/>
            <a:ext cx="1441939" cy="4659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Start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48506" y="3147647"/>
            <a:ext cx="1441939" cy="641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Zmáčkni vypínač</a:t>
            </a:r>
          </a:p>
        </p:txBody>
      </p:sp>
      <p:cxnSp>
        <p:nvCxnSpPr>
          <p:cNvPr id="7" name="Přímá spojnice se šipkou 6"/>
          <p:cNvCxnSpPr>
            <a:stCxn id="4" idx="2"/>
            <a:endCxn id="5" idx="0"/>
          </p:cNvCxnSpPr>
          <p:nvPr/>
        </p:nvCxnSpPr>
        <p:spPr>
          <a:xfrm flipH="1">
            <a:off x="1969476" y="2716823"/>
            <a:ext cx="1" cy="430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Vývojový diagram: rozhodnutí 7"/>
          <p:cNvSpPr/>
          <p:nvPr/>
        </p:nvSpPr>
        <p:spPr>
          <a:xfrm>
            <a:off x="1248507" y="4220309"/>
            <a:ext cx="1441938" cy="14243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Svítí?</a:t>
            </a:r>
          </a:p>
        </p:txBody>
      </p:sp>
      <p:cxnSp>
        <p:nvCxnSpPr>
          <p:cNvPr id="10" name="Přímá spojnice se šipkou 9"/>
          <p:cNvCxnSpPr>
            <a:stCxn id="5" idx="2"/>
            <a:endCxn id="8" idx="0"/>
          </p:cNvCxnSpPr>
          <p:nvPr/>
        </p:nvCxnSpPr>
        <p:spPr>
          <a:xfrm>
            <a:off x="1969476" y="3789485"/>
            <a:ext cx="0" cy="430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Zaoblený obdélník 10"/>
          <p:cNvSpPr/>
          <p:nvPr/>
        </p:nvSpPr>
        <p:spPr>
          <a:xfrm>
            <a:off x="1248506" y="6075486"/>
            <a:ext cx="1441939" cy="4659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Konec</a:t>
            </a:r>
          </a:p>
        </p:txBody>
      </p:sp>
      <p:cxnSp>
        <p:nvCxnSpPr>
          <p:cNvPr id="13" name="Přímá spojnice se šipkou 12"/>
          <p:cNvCxnSpPr/>
          <p:nvPr/>
        </p:nvCxnSpPr>
        <p:spPr>
          <a:xfrm>
            <a:off x="1969475" y="5644663"/>
            <a:ext cx="0" cy="430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bdélník 16"/>
          <p:cNvSpPr/>
          <p:nvPr/>
        </p:nvSpPr>
        <p:spPr>
          <a:xfrm>
            <a:off x="3335214" y="4611566"/>
            <a:ext cx="1441939" cy="641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Vyměň žárovku</a:t>
            </a:r>
          </a:p>
        </p:txBody>
      </p:sp>
      <p:cxnSp>
        <p:nvCxnSpPr>
          <p:cNvPr id="19" name="Přímá spojnice se šipkou 18"/>
          <p:cNvCxnSpPr>
            <a:stCxn id="8" idx="3"/>
            <a:endCxn id="17" idx="1"/>
          </p:cNvCxnSpPr>
          <p:nvPr/>
        </p:nvCxnSpPr>
        <p:spPr>
          <a:xfrm flipV="1">
            <a:off x="2690445" y="4932485"/>
            <a:ext cx="644769" cy="9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Vývojový diagram: rozhodnutí 19"/>
          <p:cNvSpPr/>
          <p:nvPr/>
        </p:nvSpPr>
        <p:spPr>
          <a:xfrm>
            <a:off x="5421922" y="4220309"/>
            <a:ext cx="1441938" cy="14243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Svítí?</a:t>
            </a:r>
          </a:p>
        </p:txBody>
      </p:sp>
      <p:cxnSp>
        <p:nvCxnSpPr>
          <p:cNvPr id="22" name="Přímá spojnice se šipkou 21"/>
          <p:cNvCxnSpPr>
            <a:stCxn id="17" idx="3"/>
            <a:endCxn id="20" idx="1"/>
          </p:cNvCxnSpPr>
          <p:nvPr/>
        </p:nvCxnSpPr>
        <p:spPr>
          <a:xfrm>
            <a:off x="4777153" y="4932485"/>
            <a:ext cx="64476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Pravoúhlá spojnice 23"/>
          <p:cNvCxnSpPr>
            <a:stCxn id="20" idx="2"/>
            <a:endCxn id="11" idx="3"/>
          </p:cNvCxnSpPr>
          <p:nvPr/>
        </p:nvCxnSpPr>
        <p:spPr>
          <a:xfrm rot="5400000">
            <a:off x="4084758" y="4250349"/>
            <a:ext cx="663820" cy="34524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bdélník 25"/>
          <p:cNvSpPr/>
          <p:nvPr/>
        </p:nvSpPr>
        <p:spPr>
          <a:xfrm>
            <a:off x="5421921" y="3147647"/>
            <a:ext cx="1441939" cy="641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Zkontroluj zapojení</a:t>
            </a:r>
          </a:p>
        </p:txBody>
      </p:sp>
      <p:cxnSp>
        <p:nvCxnSpPr>
          <p:cNvPr id="28" name="Přímá spojnice se šipkou 27"/>
          <p:cNvCxnSpPr>
            <a:stCxn id="20" idx="0"/>
            <a:endCxn id="26" idx="2"/>
          </p:cNvCxnSpPr>
          <p:nvPr/>
        </p:nvCxnSpPr>
        <p:spPr>
          <a:xfrm flipV="1">
            <a:off x="6142891" y="3789485"/>
            <a:ext cx="0" cy="430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Vývojový diagram: rozhodnutí 28"/>
          <p:cNvSpPr/>
          <p:nvPr/>
        </p:nvSpPr>
        <p:spPr>
          <a:xfrm>
            <a:off x="7508628" y="4220308"/>
            <a:ext cx="1441938" cy="14243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Svítí?</a:t>
            </a:r>
          </a:p>
        </p:txBody>
      </p:sp>
      <p:cxnSp>
        <p:nvCxnSpPr>
          <p:cNvPr id="31" name="Pravoúhlá spojnice 30"/>
          <p:cNvCxnSpPr>
            <a:stCxn id="26" idx="3"/>
            <a:endCxn id="29" idx="0"/>
          </p:cNvCxnSpPr>
          <p:nvPr/>
        </p:nvCxnSpPr>
        <p:spPr>
          <a:xfrm>
            <a:off x="6863860" y="3468566"/>
            <a:ext cx="1365737" cy="7517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ravoúhlá spojnice 32"/>
          <p:cNvCxnSpPr>
            <a:stCxn id="29" idx="2"/>
            <a:endCxn id="11" idx="3"/>
          </p:cNvCxnSpPr>
          <p:nvPr/>
        </p:nvCxnSpPr>
        <p:spPr>
          <a:xfrm rot="5400000">
            <a:off x="5128111" y="3206995"/>
            <a:ext cx="663821" cy="55391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ovéPole 33"/>
          <p:cNvSpPr txBox="1"/>
          <p:nvPr/>
        </p:nvSpPr>
        <p:spPr>
          <a:xfrm>
            <a:off x="1969475" y="5644660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Ano</a:t>
            </a:r>
            <a:endParaRPr lang="cs-CZ"/>
          </a:p>
        </p:txBody>
      </p:sp>
      <p:sp>
        <p:nvSpPr>
          <p:cNvPr id="35" name="TextovéPole 34"/>
          <p:cNvSpPr txBox="1"/>
          <p:nvPr/>
        </p:nvSpPr>
        <p:spPr>
          <a:xfrm>
            <a:off x="5648844" y="5644660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Ano</a:t>
            </a:r>
            <a:endParaRPr lang="cs-CZ"/>
          </a:p>
        </p:txBody>
      </p:sp>
      <p:sp>
        <p:nvSpPr>
          <p:cNvPr id="36" name="TextovéPole 35"/>
          <p:cNvSpPr txBox="1"/>
          <p:nvPr/>
        </p:nvSpPr>
        <p:spPr>
          <a:xfrm>
            <a:off x="7735553" y="5644659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Ano</a:t>
            </a:r>
            <a:endParaRPr lang="cs-CZ"/>
          </a:p>
        </p:txBody>
      </p:sp>
      <p:sp>
        <p:nvSpPr>
          <p:cNvPr id="37" name="TextovéPole 36"/>
          <p:cNvSpPr txBox="1"/>
          <p:nvPr/>
        </p:nvSpPr>
        <p:spPr>
          <a:xfrm>
            <a:off x="2765806" y="4609386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Ne</a:t>
            </a:r>
            <a:endParaRPr lang="cs-CZ"/>
          </a:p>
        </p:txBody>
      </p:sp>
      <p:sp>
        <p:nvSpPr>
          <p:cNvPr id="38" name="TextovéPole 37"/>
          <p:cNvSpPr txBox="1"/>
          <p:nvPr/>
        </p:nvSpPr>
        <p:spPr>
          <a:xfrm>
            <a:off x="6228961" y="3866397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Ne</a:t>
            </a:r>
            <a:endParaRPr lang="cs-CZ"/>
          </a:p>
        </p:txBody>
      </p:sp>
      <p:sp>
        <p:nvSpPr>
          <p:cNvPr id="39" name="Obdélník 38"/>
          <p:cNvSpPr/>
          <p:nvPr/>
        </p:nvSpPr>
        <p:spPr>
          <a:xfrm>
            <a:off x="9595332" y="4611566"/>
            <a:ext cx="1441939" cy="641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Zavolej elektrikáře</a:t>
            </a:r>
          </a:p>
        </p:txBody>
      </p:sp>
      <p:cxnSp>
        <p:nvCxnSpPr>
          <p:cNvPr id="41" name="Přímá spojnice se šipkou 40"/>
          <p:cNvCxnSpPr>
            <a:stCxn id="29" idx="3"/>
            <a:endCxn id="39" idx="1"/>
          </p:cNvCxnSpPr>
          <p:nvPr/>
        </p:nvCxnSpPr>
        <p:spPr>
          <a:xfrm>
            <a:off x="8950566" y="4932485"/>
            <a:ext cx="6447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Pravoúhlá spojnice 42"/>
          <p:cNvCxnSpPr>
            <a:stCxn id="39" idx="2"/>
            <a:endCxn id="11" idx="3"/>
          </p:cNvCxnSpPr>
          <p:nvPr/>
        </p:nvCxnSpPr>
        <p:spPr>
          <a:xfrm rot="5400000">
            <a:off x="5975835" y="1968015"/>
            <a:ext cx="1055078" cy="76258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ovéPole 43"/>
          <p:cNvSpPr txBox="1"/>
          <p:nvPr/>
        </p:nvSpPr>
        <p:spPr>
          <a:xfrm>
            <a:off x="9036635" y="4613782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Ne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3566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Ukázka 2, Kalkulačka</a:t>
            </a:r>
          </a:p>
        </p:txBody>
      </p:sp>
      <p:sp>
        <p:nvSpPr>
          <p:cNvPr id="4" name="Zaoblený obdélník 3"/>
          <p:cNvSpPr/>
          <p:nvPr/>
        </p:nvSpPr>
        <p:spPr>
          <a:xfrm>
            <a:off x="1248507" y="2250831"/>
            <a:ext cx="1441939" cy="4659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Start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48506" y="3147647"/>
            <a:ext cx="1441939" cy="641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Vlož znak operace</a:t>
            </a:r>
          </a:p>
        </p:txBody>
      </p:sp>
      <p:sp>
        <p:nvSpPr>
          <p:cNvPr id="6" name="Vývojový diagram: rozhodnutí 5"/>
          <p:cNvSpPr/>
          <p:nvPr/>
        </p:nvSpPr>
        <p:spPr>
          <a:xfrm>
            <a:off x="3411414" y="2756389"/>
            <a:ext cx="1441938" cy="14243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+</a:t>
            </a:r>
            <a:endParaRPr lang="cs-CZ"/>
          </a:p>
        </p:txBody>
      </p:sp>
      <p:sp>
        <p:nvSpPr>
          <p:cNvPr id="7" name="Zaoblený obdélník 6"/>
          <p:cNvSpPr/>
          <p:nvPr/>
        </p:nvSpPr>
        <p:spPr>
          <a:xfrm>
            <a:off x="1248506" y="6075486"/>
            <a:ext cx="1441939" cy="4659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Konec</a:t>
            </a:r>
          </a:p>
        </p:txBody>
      </p:sp>
      <p:sp>
        <p:nvSpPr>
          <p:cNvPr id="8" name="Vývojový diagram: rozhodnutí 7"/>
          <p:cNvSpPr/>
          <p:nvPr/>
        </p:nvSpPr>
        <p:spPr>
          <a:xfrm>
            <a:off x="3411414" y="4430024"/>
            <a:ext cx="1441938" cy="14243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-</a:t>
            </a:r>
          </a:p>
        </p:txBody>
      </p:sp>
      <p:cxnSp>
        <p:nvCxnSpPr>
          <p:cNvPr id="10" name="Přímá spojnice se šipkou 9"/>
          <p:cNvCxnSpPr>
            <a:stCxn id="4" idx="2"/>
            <a:endCxn id="5" idx="0"/>
          </p:cNvCxnSpPr>
          <p:nvPr/>
        </p:nvCxnSpPr>
        <p:spPr>
          <a:xfrm flipH="1">
            <a:off x="1969476" y="2716823"/>
            <a:ext cx="1" cy="430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Přímá spojnice se šipkou 11"/>
          <p:cNvCxnSpPr>
            <a:stCxn id="5" idx="3"/>
            <a:endCxn id="6" idx="1"/>
          </p:cNvCxnSpPr>
          <p:nvPr/>
        </p:nvCxnSpPr>
        <p:spPr>
          <a:xfrm>
            <a:off x="2690445" y="3468566"/>
            <a:ext cx="7209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nice se šipkou 13"/>
          <p:cNvCxnSpPr>
            <a:stCxn id="6" idx="2"/>
            <a:endCxn id="8" idx="0"/>
          </p:cNvCxnSpPr>
          <p:nvPr/>
        </p:nvCxnSpPr>
        <p:spPr>
          <a:xfrm>
            <a:off x="4132383" y="4180742"/>
            <a:ext cx="0" cy="249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bdélník 14"/>
          <p:cNvSpPr/>
          <p:nvPr/>
        </p:nvSpPr>
        <p:spPr>
          <a:xfrm>
            <a:off x="5574321" y="3136657"/>
            <a:ext cx="1441939" cy="641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 = A + B</a:t>
            </a:r>
            <a:r>
              <a:rPr lang="cs-CZ"/>
              <a:t> </a:t>
            </a:r>
          </a:p>
        </p:txBody>
      </p:sp>
      <p:sp>
        <p:nvSpPr>
          <p:cNvPr id="16" name="Obdélník 15"/>
          <p:cNvSpPr/>
          <p:nvPr/>
        </p:nvSpPr>
        <p:spPr>
          <a:xfrm>
            <a:off x="5574320" y="4821281"/>
            <a:ext cx="1441939" cy="641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 = A </a:t>
            </a:r>
            <a:r>
              <a:rPr lang="cs-CZ"/>
              <a:t>- B</a:t>
            </a:r>
          </a:p>
        </p:txBody>
      </p:sp>
      <p:sp>
        <p:nvSpPr>
          <p:cNvPr id="17" name="Obdélník 16"/>
          <p:cNvSpPr/>
          <p:nvPr/>
        </p:nvSpPr>
        <p:spPr>
          <a:xfrm>
            <a:off x="7737229" y="3136657"/>
            <a:ext cx="1441939" cy="641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 = A * B</a:t>
            </a:r>
            <a:r>
              <a:rPr lang="cs-CZ"/>
              <a:t> </a:t>
            </a:r>
          </a:p>
        </p:txBody>
      </p:sp>
      <p:sp>
        <p:nvSpPr>
          <p:cNvPr id="24" name="Obdélník 23"/>
          <p:cNvSpPr/>
          <p:nvPr/>
        </p:nvSpPr>
        <p:spPr>
          <a:xfrm>
            <a:off x="5574319" y="5987563"/>
            <a:ext cx="1441939" cy="641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Vypiš C</a:t>
            </a:r>
          </a:p>
        </p:txBody>
      </p:sp>
      <p:sp>
        <p:nvSpPr>
          <p:cNvPr id="25" name="Obdélník 24"/>
          <p:cNvSpPr/>
          <p:nvPr/>
        </p:nvSpPr>
        <p:spPr>
          <a:xfrm>
            <a:off x="7737227" y="4821281"/>
            <a:ext cx="1441939" cy="6418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 = A </a:t>
            </a:r>
            <a:r>
              <a:rPr lang="cs-CZ"/>
              <a:t>/</a:t>
            </a:r>
            <a:r>
              <a:rPr lang="en-GB"/>
              <a:t> B</a:t>
            </a:r>
            <a:r>
              <a:rPr lang="cs-CZ"/>
              <a:t> </a:t>
            </a:r>
          </a:p>
        </p:txBody>
      </p:sp>
      <p:cxnSp>
        <p:nvCxnSpPr>
          <p:cNvPr id="27" name="Přímá spojnice se šipkou 26"/>
          <p:cNvCxnSpPr>
            <a:stCxn id="24" idx="1"/>
            <a:endCxn id="7" idx="3"/>
          </p:cNvCxnSpPr>
          <p:nvPr/>
        </p:nvCxnSpPr>
        <p:spPr>
          <a:xfrm flipH="1">
            <a:off x="2690445" y="6308482"/>
            <a:ext cx="28838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Přímá spojnice se šipkou 30"/>
          <p:cNvCxnSpPr>
            <a:stCxn id="6" idx="3"/>
            <a:endCxn id="15" idx="1"/>
          </p:cNvCxnSpPr>
          <p:nvPr/>
        </p:nvCxnSpPr>
        <p:spPr>
          <a:xfrm flipV="1">
            <a:off x="4853352" y="3457576"/>
            <a:ext cx="720969" cy="109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Přímá spojnice se šipkou 32"/>
          <p:cNvCxnSpPr>
            <a:stCxn id="8" idx="3"/>
            <a:endCxn id="16" idx="1"/>
          </p:cNvCxnSpPr>
          <p:nvPr/>
        </p:nvCxnSpPr>
        <p:spPr>
          <a:xfrm flipV="1">
            <a:off x="4853352" y="5142200"/>
            <a:ext cx="720968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Vývojový diagram: spojnice 33"/>
          <p:cNvSpPr/>
          <p:nvPr/>
        </p:nvSpPr>
        <p:spPr>
          <a:xfrm>
            <a:off x="7095392" y="4057326"/>
            <a:ext cx="527535" cy="496113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36" name="Přímá spojnice se šipkou 35"/>
          <p:cNvCxnSpPr>
            <a:endCxn id="34" idx="7"/>
          </p:cNvCxnSpPr>
          <p:nvPr/>
        </p:nvCxnSpPr>
        <p:spPr>
          <a:xfrm flipH="1">
            <a:off x="7545671" y="3778495"/>
            <a:ext cx="191556" cy="351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Přímá spojnice se šipkou 38"/>
          <p:cNvCxnSpPr>
            <a:endCxn id="34" idx="1"/>
          </p:cNvCxnSpPr>
          <p:nvPr/>
        </p:nvCxnSpPr>
        <p:spPr>
          <a:xfrm>
            <a:off x="7016258" y="3778495"/>
            <a:ext cx="156390" cy="351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Přímá spojnice se šipkou 40"/>
          <p:cNvCxnSpPr>
            <a:endCxn id="34" idx="5"/>
          </p:cNvCxnSpPr>
          <p:nvPr/>
        </p:nvCxnSpPr>
        <p:spPr>
          <a:xfrm flipH="1" flipV="1">
            <a:off x="7545671" y="4480785"/>
            <a:ext cx="191556" cy="340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Přímá spojnice se šipkou 42"/>
          <p:cNvCxnSpPr>
            <a:endCxn id="34" idx="3"/>
          </p:cNvCxnSpPr>
          <p:nvPr/>
        </p:nvCxnSpPr>
        <p:spPr>
          <a:xfrm flipV="1">
            <a:off x="7016258" y="4480785"/>
            <a:ext cx="156390" cy="340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Pravoúhlá spojnice 44"/>
          <p:cNvCxnSpPr>
            <a:stCxn id="34" idx="4"/>
            <a:endCxn id="24" idx="3"/>
          </p:cNvCxnSpPr>
          <p:nvPr/>
        </p:nvCxnSpPr>
        <p:spPr>
          <a:xfrm rot="5400000">
            <a:off x="6310188" y="5259509"/>
            <a:ext cx="1755043" cy="3429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Vývojový diagram: rozhodnutí 46"/>
          <p:cNvSpPr/>
          <p:nvPr/>
        </p:nvSpPr>
        <p:spPr>
          <a:xfrm>
            <a:off x="9900137" y="2759565"/>
            <a:ext cx="1441938" cy="14243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*</a:t>
            </a:r>
            <a:endParaRPr lang="cs-CZ"/>
          </a:p>
        </p:txBody>
      </p:sp>
      <p:sp>
        <p:nvSpPr>
          <p:cNvPr id="48" name="Vývojový diagram: rozhodnutí 47"/>
          <p:cNvSpPr/>
          <p:nvPr/>
        </p:nvSpPr>
        <p:spPr>
          <a:xfrm>
            <a:off x="9900137" y="4430024"/>
            <a:ext cx="1441938" cy="1424353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/</a:t>
            </a:r>
          </a:p>
        </p:txBody>
      </p:sp>
      <p:cxnSp>
        <p:nvCxnSpPr>
          <p:cNvPr id="52" name="Pravoúhlá spojnice 51"/>
          <p:cNvCxnSpPr>
            <a:stCxn id="8" idx="2"/>
            <a:endCxn id="48" idx="2"/>
          </p:cNvCxnSpPr>
          <p:nvPr/>
        </p:nvCxnSpPr>
        <p:spPr>
          <a:xfrm rot="16200000" flipH="1">
            <a:off x="7376744" y="2610015"/>
            <a:ext cx="12700" cy="6488723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Přímá spojnice se šipkou 53"/>
          <p:cNvCxnSpPr>
            <a:stCxn id="48" idx="0"/>
            <a:endCxn id="47" idx="2"/>
          </p:cNvCxnSpPr>
          <p:nvPr/>
        </p:nvCxnSpPr>
        <p:spPr>
          <a:xfrm flipV="1">
            <a:off x="10621106" y="4183918"/>
            <a:ext cx="0" cy="246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Přímá spojnice se šipkou 55"/>
          <p:cNvCxnSpPr>
            <a:stCxn id="47" idx="1"/>
            <a:endCxn id="17" idx="3"/>
          </p:cNvCxnSpPr>
          <p:nvPr/>
        </p:nvCxnSpPr>
        <p:spPr>
          <a:xfrm flipH="1" flipV="1">
            <a:off x="9179168" y="3457576"/>
            <a:ext cx="720969" cy="14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Přímá spojnice se šipkou 57"/>
          <p:cNvCxnSpPr>
            <a:stCxn id="48" idx="1"/>
            <a:endCxn id="25" idx="3"/>
          </p:cNvCxnSpPr>
          <p:nvPr/>
        </p:nvCxnSpPr>
        <p:spPr>
          <a:xfrm flipH="1" flipV="1">
            <a:off x="9179166" y="5142200"/>
            <a:ext cx="7209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Pravoúhlá spojnice 59"/>
          <p:cNvCxnSpPr>
            <a:stCxn id="47" idx="0"/>
            <a:endCxn id="4" idx="3"/>
          </p:cNvCxnSpPr>
          <p:nvPr/>
        </p:nvCxnSpPr>
        <p:spPr>
          <a:xfrm rot="16200000" flipV="1">
            <a:off x="6517907" y="-1343634"/>
            <a:ext cx="275738" cy="79306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ovéPole 61"/>
          <p:cNvSpPr txBox="1"/>
          <p:nvPr/>
        </p:nvSpPr>
        <p:spPr>
          <a:xfrm>
            <a:off x="4097213" y="4144600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Ne</a:t>
            </a:r>
            <a:endParaRPr lang="cs-CZ"/>
          </a:p>
        </p:txBody>
      </p:sp>
      <p:sp>
        <p:nvSpPr>
          <p:cNvPr id="63" name="TextovéPole 62"/>
          <p:cNvSpPr txBox="1"/>
          <p:nvPr/>
        </p:nvSpPr>
        <p:spPr>
          <a:xfrm>
            <a:off x="4094998" y="5826660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Ne</a:t>
            </a:r>
            <a:endParaRPr lang="cs-CZ"/>
          </a:p>
        </p:txBody>
      </p:sp>
      <p:sp>
        <p:nvSpPr>
          <p:cNvPr id="64" name="TextovéPole 63"/>
          <p:cNvSpPr txBox="1"/>
          <p:nvPr/>
        </p:nvSpPr>
        <p:spPr>
          <a:xfrm>
            <a:off x="10223240" y="4219841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Ne</a:t>
            </a:r>
            <a:endParaRPr lang="cs-CZ"/>
          </a:p>
        </p:txBody>
      </p:sp>
      <p:sp>
        <p:nvSpPr>
          <p:cNvPr id="65" name="TextovéPole 64"/>
          <p:cNvSpPr txBox="1"/>
          <p:nvPr/>
        </p:nvSpPr>
        <p:spPr>
          <a:xfrm>
            <a:off x="10223240" y="2518489"/>
            <a:ext cx="3978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Ne</a:t>
            </a:r>
            <a:endParaRPr lang="cs-CZ"/>
          </a:p>
        </p:txBody>
      </p:sp>
      <p:sp>
        <p:nvSpPr>
          <p:cNvPr id="66" name="TextovéPole 65"/>
          <p:cNvSpPr txBox="1"/>
          <p:nvPr/>
        </p:nvSpPr>
        <p:spPr>
          <a:xfrm>
            <a:off x="4951643" y="3180577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Ano</a:t>
            </a:r>
            <a:endParaRPr lang="cs-CZ"/>
          </a:p>
        </p:txBody>
      </p:sp>
      <p:sp>
        <p:nvSpPr>
          <p:cNvPr id="67" name="TextovéPole 66"/>
          <p:cNvSpPr txBox="1"/>
          <p:nvPr/>
        </p:nvSpPr>
        <p:spPr>
          <a:xfrm>
            <a:off x="4951643" y="4875578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Ano</a:t>
            </a:r>
            <a:endParaRPr lang="cs-CZ"/>
          </a:p>
        </p:txBody>
      </p:sp>
      <p:sp>
        <p:nvSpPr>
          <p:cNvPr id="68" name="TextovéPole 67"/>
          <p:cNvSpPr txBox="1"/>
          <p:nvPr/>
        </p:nvSpPr>
        <p:spPr>
          <a:xfrm>
            <a:off x="9292628" y="4865201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Ano</a:t>
            </a:r>
            <a:endParaRPr lang="cs-CZ"/>
          </a:p>
        </p:txBody>
      </p:sp>
      <p:sp>
        <p:nvSpPr>
          <p:cNvPr id="69" name="TextovéPole 68"/>
          <p:cNvSpPr txBox="1"/>
          <p:nvPr/>
        </p:nvSpPr>
        <p:spPr>
          <a:xfrm>
            <a:off x="9292628" y="3175083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200"/>
              <a:t>Ano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533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Zdroje: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>
                <a:hlinkClick r:id="rId2"/>
              </a:rPr>
              <a:t>Algoritmus – Wikipedie (wikipedia.org)</a:t>
            </a:r>
            <a:endParaRPr lang="cs-CZ"/>
          </a:p>
          <a:p>
            <a:r>
              <a:rPr lang="cs-CZ">
                <a:hlinkClick r:id="rId3"/>
              </a:rPr>
              <a:t>Vývojový diagram – Wikipedie (wikipedia.org)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72205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asedací místnost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7F82136AEE6D845B51BF3203E2355E9" ma:contentTypeVersion="4" ma:contentTypeDescription="Vytvoří nový dokument" ma:contentTypeScope="" ma:versionID="a4420c69829b445c2db279fd722ee8d5">
  <xsd:schema xmlns:xsd="http://www.w3.org/2001/XMLSchema" xmlns:xs="http://www.w3.org/2001/XMLSchema" xmlns:p="http://schemas.microsoft.com/office/2006/metadata/properties" xmlns:ns2="1a7aaced-daa8-41f2-84e2-caef5211d601" xmlns:ns3="d3d68c48-3b71-41a3-814d-b8f738919ffc" targetNamespace="http://schemas.microsoft.com/office/2006/metadata/properties" ma:root="true" ma:fieldsID="42727c6bb2e5e5046f43718250e72c64" ns2:_="" ns3:_="">
    <xsd:import namespace="1a7aaced-daa8-41f2-84e2-caef5211d601"/>
    <xsd:import namespace="d3d68c48-3b71-41a3-814d-b8f738919f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7aaced-daa8-41f2-84e2-caef5211d6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d68c48-3b71-41a3-814d-b8f738919ff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7F00F74-0C0C-4940-9347-51EE2BD5EE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103D6B-EB12-4668-B45D-DA19B2742ACD}">
  <ds:schemaRefs>
    <ds:schemaRef ds:uri="1a7aaced-daa8-41f2-84e2-caef5211d601"/>
    <ds:schemaRef ds:uri="d3d68c48-3b71-41a3-814d-b8f738919f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BF7AB04-DFAD-47A7-87FC-DDCDC5CE6629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Zasedací síň</Template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Zasedací místnost Ion</vt:lpstr>
      <vt:lpstr>Algoritmy a Vývojové diagramy</vt:lpstr>
      <vt:lpstr>Definice a základní vlastnosti algoritmu</vt:lpstr>
      <vt:lpstr>Příklady algoritmů</vt:lpstr>
      <vt:lpstr>Vývojové diagramy</vt:lpstr>
      <vt:lpstr>Ukázka 1, žárovka</vt:lpstr>
      <vt:lpstr>Ukázka 2, Kalkulačka</vt:lpstr>
      <vt:lpstr>Zdroje: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Algoritmy</dc:title>
  <dc:creator>User</dc:creator>
  <cp:revision>1</cp:revision>
  <dcterms:created xsi:type="dcterms:W3CDTF">2022-10-10T06:30:38Z</dcterms:created>
  <dcterms:modified xsi:type="dcterms:W3CDTF">2023-01-13T07:03:01Z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0x01010067F82136AEE6D845B51BF3203E2355E9</vt:lpwstr>
  </property>
</Properties>
</file>
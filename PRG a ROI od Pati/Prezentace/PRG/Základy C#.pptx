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62" r:id="rId7"/>
    <p:sldId id="270" r:id="rId8"/>
    <p:sldId id="271" r:id="rId9"/>
    <p:sldId id="258" r:id="rId10"/>
    <p:sldId id="259" r:id="rId11"/>
    <p:sldId id="260" r:id="rId12"/>
    <p:sldId id="263" r:id="rId13"/>
    <p:sldId id="264" r:id="rId14"/>
    <p:sldId id="265" r:id="rId15"/>
    <p:sldId id="261" r:id="rId16"/>
    <p:sldId id="266" r:id="rId17"/>
    <p:sldId id="267" r:id="rId18"/>
    <p:sldId id="268" r:id="rId19"/>
    <p:sldId id="269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81BE62B8-7537-4FAA-B259-FB265D3F2191}">
          <p14:sldIdLst>
            <p14:sldId id="256"/>
          </p14:sldIdLst>
        </p14:section>
        <p14:section name="Základy C#" id="{938BDEE2-AF06-4267-84A3-2689E7A3E269}">
          <p14:sldIdLst>
            <p14:sldId id="257"/>
            <p14:sldId id="262"/>
            <p14:sldId id="270"/>
            <p14:sldId id="271"/>
            <p14:sldId id="258"/>
            <p14:sldId id="259"/>
            <p14:sldId id="260"/>
          </p14:sldIdLst>
        </p14:section>
        <p14:section name="Podmínky" id="{CCE43446-7F68-4ED6-B584-5E1068B1035D}">
          <p14:sldIdLst>
            <p14:sldId id="263"/>
            <p14:sldId id="264"/>
            <p14:sldId id="265"/>
          </p14:sldIdLst>
        </p14:section>
        <p14:section name="Cykly" id="{2B3D16D3-22A1-426C-A6E6-6022856B6BB8}">
          <p14:sldIdLst>
            <p14:sldId id="261"/>
            <p14:sldId id="266"/>
            <p14:sldId id="267"/>
            <p14:sldId id="268"/>
          </p14:sldIdLst>
        </p14:section>
        <p14:section name="Pole" id="{AFD20629-8FC0-4C10-B6EC-9A2FE332D7A3}">
          <p14:sldIdLst>
            <p14:sldId id="269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521B7-3BD1-5065-DC29-DE23684187AA}" v="1" dt="2026-01-19T19:42:16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chař Martin" userId="S::kuchar.martin@student.sposdk.cz::bdf7a19e-647e-4f26-b105-082c21d9f27d" providerId="AD" clId="Web-{C19521B7-3BD1-5065-DC29-DE23684187AA}"/>
    <pc:docChg chg="sldOrd">
      <pc:chgData name="Kuchař Martin" userId="S::kuchar.martin@student.sposdk.cz::bdf7a19e-647e-4f26-b105-082c21d9f27d" providerId="AD" clId="Web-{C19521B7-3BD1-5065-DC29-DE23684187AA}" dt="2026-01-19T19:42:16.621" v="0"/>
      <pc:docMkLst>
        <pc:docMk/>
      </pc:docMkLst>
      <pc:sldChg chg="ord">
        <pc:chgData name="Kuchař Martin" userId="S::kuchar.martin@student.sposdk.cz::bdf7a19e-647e-4f26-b105-082c21d9f27d" providerId="AD" clId="Web-{C19521B7-3BD1-5065-DC29-DE23684187AA}" dt="2026-01-19T19:42:16.621" v="0"/>
        <pc:sldMkLst>
          <pc:docMk/>
          <pc:sldMk cId="3469813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C#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1.I</a:t>
            </a:r>
          </a:p>
        </p:txBody>
      </p:sp>
    </p:spTree>
    <p:extLst>
      <p:ext uri="{BB962C8B-B14F-4D97-AF65-F5344CB8AC3E}">
        <p14:creationId xmlns:p14="http://schemas.microsoft.com/office/powerpoint/2010/main" val="248360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Základní informace o jazyce C#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Jedná se o vysokoúrovňový objektově orientovaný jazyk</a:t>
            </a:r>
          </a:p>
          <a:p>
            <a:r>
              <a:rPr lang="cs-CZ"/>
              <a:t>Je vyvíjen společností Microsoft</a:t>
            </a:r>
          </a:p>
          <a:p>
            <a:r>
              <a:rPr lang="cs-CZ"/>
              <a:t>Vznikl v roce 2000</a:t>
            </a:r>
          </a:p>
          <a:p>
            <a:r>
              <a:rPr lang="cs-CZ"/>
              <a:t>Vychází ze dvou povedených jazyků a to C</a:t>
            </a:r>
            <a:r>
              <a:rPr lang="en-GB"/>
              <a:t>++ a Java</a:t>
            </a:r>
            <a:endParaRPr lang="cs-CZ"/>
          </a:p>
          <a:p>
            <a:r>
              <a:rPr lang="cs-CZ"/>
              <a:t>Využívá z velké části syntaxi jazyka C</a:t>
            </a:r>
          </a:p>
          <a:p>
            <a:r>
              <a:rPr lang="cs-CZ"/>
              <a:t>Je využíván s platformou .NET, která umožňuje využití C# na téměř všechny druhy implementací</a:t>
            </a:r>
          </a:p>
        </p:txBody>
      </p:sp>
    </p:spTree>
    <p:extLst>
      <p:ext uri="{BB962C8B-B14F-4D97-AF65-F5344CB8AC3E}">
        <p14:creationId xmlns:p14="http://schemas.microsoft.com/office/powerpoint/2010/main" val="44971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564089"/>
          </a:xfrm>
        </p:spPr>
        <p:txBody>
          <a:bodyPr/>
          <a:lstStyle/>
          <a:p>
            <a:r>
              <a:rPr lang="cs-CZ"/>
              <a:t>Struktura jazyka C#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cs-CZ"/>
              <a:t>C# je objektově orientovaný programovací jazyk</a:t>
            </a:r>
          </a:p>
          <a:p>
            <a:pPr algn="just"/>
            <a:r>
              <a:rPr lang="cs-CZ"/>
              <a:t>Hlavní prvky jsou:</a:t>
            </a:r>
          </a:p>
          <a:p>
            <a:pPr lvl="1" algn="just"/>
            <a:r>
              <a:rPr lang="cs-CZ" b="1" err="1"/>
              <a:t>Namespace</a:t>
            </a:r>
            <a:r>
              <a:rPr lang="cs-CZ" b="1"/>
              <a:t>:</a:t>
            </a:r>
            <a:r>
              <a:rPr lang="cs-CZ"/>
              <a:t> Je to celý náš projekt, který obsahuje všechny třídy, které se v projektu nachází. Zaručuje nám integritu mezi třídami a kontroluje, aby se nejmenovali dvě třídy napříč projektem stejně</a:t>
            </a:r>
          </a:p>
          <a:p>
            <a:pPr lvl="1" algn="just"/>
            <a:r>
              <a:rPr lang="cs-CZ" b="1" err="1"/>
              <a:t>Class</a:t>
            </a:r>
            <a:r>
              <a:rPr lang="cs-CZ" b="1"/>
              <a:t>:</a:t>
            </a:r>
            <a:r>
              <a:rPr lang="cs-CZ"/>
              <a:t> Je to šablona pro následné objekty dané třídy(neboli instance). Do které se následně vkládají konstruktory, metody, atributy atd.</a:t>
            </a:r>
          </a:p>
          <a:p>
            <a:pPr lvl="1" algn="just"/>
            <a:r>
              <a:rPr lang="cs-CZ" b="1"/>
              <a:t>Metody:</a:t>
            </a:r>
            <a:r>
              <a:rPr lang="cs-CZ"/>
              <a:t> Jsou poslední úrovní před samotným kódem. Dělí se na funkce a procedury. Zvláštním metody je </a:t>
            </a:r>
            <a:r>
              <a:rPr lang="cs-CZ" err="1"/>
              <a:t>main</a:t>
            </a:r>
            <a:r>
              <a:rPr lang="cs-CZ"/>
              <a:t> metoda, která je unikátní v celém projektu a je vždy tou jedinou, která spouští náš program.</a:t>
            </a:r>
          </a:p>
        </p:txBody>
      </p:sp>
    </p:spTree>
    <p:extLst>
      <p:ext uri="{BB962C8B-B14F-4D97-AF65-F5344CB8AC3E}">
        <p14:creationId xmlns:p14="http://schemas.microsoft.com/office/powerpoint/2010/main" val="44326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Struktura jazyka C#</a:t>
            </a:r>
          </a:p>
        </p:txBody>
      </p:sp>
      <p:sp>
        <p:nvSpPr>
          <p:cNvPr id="4" name="Ovál 3"/>
          <p:cNvSpPr/>
          <p:nvPr/>
        </p:nvSpPr>
        <p:spPr>
          <a:xfrm>
            <a:off x="1072717" y="2323750"/>
            <a:ext cx="8925886" cy="43874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vál 4"/>
          <p:cNvSpPr/>
          <p:nvPr/>
        </p:nvSpPr>
        <p:spPr>
          <a:xfrm>
            <a:off x="1381457" y="3292678"/>
            <a:ext cx="3573710" cy="24495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vál 5"/>
          <p:cNvSpPr/>
          <p:nvPr/>
        </p:nvSpPr>
        <p:spPr>
          <a:xfrm>
            <a:off x="6174877" y="3246538"/>
            <a:ext cx="3573710" cy="24495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6"/>
          <p:cNvSpPr txBox="1"/>
          <p:nvPr/>
        </p:nvSpPr>
        <p:spPr>
          <a:xfrm>
            <a:off x="4737273" y="2623555"/>
            <a:ext cx="166102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cs-CZ" err="1">
                <a:latin typeface="Century Gothic"/>
              </a:rPr>
              <a:t>NameSpace</a:t>
            </a:r>
            <a:endParaRPr lang="cs-CZ">
              <a:latin typeface="Century Gothic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2337802" y="3430296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Class1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7131222" y="3430296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Class2</a:t>
            </a:r>
          </a:p>
        </p:txBody>
      </p:sp>
      <p:sp>
        <p:nvSpPr>
          <p:cNvPr id="10" name="Ovál 9"/>
          <p:cNvSpPr/>
          <p:nvPr/>
        </p:nvSpPr>
        <p:spPr>
          <a:xfrm>
            <a:off x="3518202" y="3772670"/>
            <a:ext cx="1282712" cy="105141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vál 10"/>
          <p:cNvSpPr/>
          <p:nvPr/>
        </p:nvSpPr>
        <p:spPr>
          <a:xfrm>
            <a:off x="6256549" y="3799627"/>
            <a:ext cx="1282712" cy="105141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vál 11"/>
          <p:cNvSpPr/>
          <p:nvPr/>
        </p:nvSpPr>
        <p:spPr>
          <a:xfrm>
            <a:off x="8384203" y="3799628"/>
            <a:ext cx="1282712" cy="105141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vál 12"/>
          <p:cNvSpPr/>
          <p:nvPr/>
        </p:nvSpPr>
        <p:spPr>
          <a:xfrm>
            <a:off x="2611177" y="4748051"/>
            <a:ext cx="1178375" cy="86058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vál 13"/>
          <p:cNvSpPr/>
          <p:nvPr/>
        </p:nvSpPr>
        <p:spPr>
          <a:xfrm>
            <a:off x="1497222" y="3785612"/>
            <a:ext cx="1282712" cy="105141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/>
          <p:cNvSpPr txBox="1"/>
          <p:nvPr/>
        </p:nvSpPr>
        <p:spPr>
          <a:xfrm>
            <a:off x="2369471" y="4817681"/>
            <a:ext cx="1661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err="1"/>
              <a:t>Main</a:t>
            </a:r>
            <a:endParaRPr lang="cs-CZ"/>
          </a:p>
          <a:p>
            <a:pPr algn="ctr"/>
            <a:r>
              <a:rPr lang="cs-CZ" err="1"/>
              <a:t>Method</a:t>
            </a:r>
            <a:endParaRPr lang="cs-CZ"/>
          </a:p>
        </p:txBody>
      </p:sp>
      <p:sp>
        <p:nvSpPr>
          <p:cNvPr id="17" name="TextovéPole 16"/>
          <p:cNvSpPr txBox="1"/>
          <p:nvPr/>
        </p:nvSpPr>
        <p:spPr>
          <a:xfrm>
            <a:off x="3328791" y="4117768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Method2</a:t>
            </a:r>
          </a:p>
        </p:txBody>
      </p:sp>
      <p:sp>
        <p:nvSpPr>
          <p:cNvPr id="18" name="TextovéPole 17"/>
          <p:cNvSpPr txBox="1"/>
          <p:nvPr/>
        </p:nvSpPr>
        <p:spPr>
          <a:xfrm>
            <a:off x="1307947" y="4099725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Method1</a:t>
            </a:r>
          </a:p>
        </p:txBody>
      </p:sp>
      <p:sp>
        <p:nvSpPr>
          <p:cNvPr id="19" name="TextovéPole 18"/>
          <p:cNvSpPr txBox="1"/>
          <p:nvPr/>
        </p:nvSpPr>
        <p:spPr>
          <a:xfrm>
            <a:off x="8195049" y="4122497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Method4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6067395" y="4122497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Method3</a:t>
            </a:r>
          </a:p>
        </p:txBody>
      </p:sp>
    </p:spTree>
    <p:extLst>
      <p:ext uri="{BB962C8B-B14F-4D97-AF65-F5344CB8AC3E}">
        <p14:creationId xmlns:p14="http://schemas.microsoft.com/office/powerpoint/2010/main" val="305064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Kompilátor (překladač)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cs-CZ"/>
              <a:t>Kompilátor v jazyce C# nám umožnuje psát kód naší syntaxí a následně si to program přeloží do strojového kódu</a:t>
            </a:r>
          </a:p>
          <a:p>
            <a:pPr algn="just"/>
            <a:r>
              <a:rPr lang="cs-CZ"/>
              <a:t>Než se začaly používat kompilátory, tak se programy psaly v binárním kódu</a:t>
            </a:r>
          </a:p>
          <a:p>
            <a:pPr algn="just"/>
            <a:r>
              <a:rPr lang="cs-CZ"/>
              <a:t>Díky tomu nezáleží, jak je program napsán/strukturován, protože překladač ho složí tak, aby byl nejlépe situován pro </a:t>
            </a:r>
            <a:r>
              <a:rPr lang="cs-CZ" err="1"/>
              <a:t>processor</a:t>
            </a:r>
            <a:r>
              <a:rPr lang="cs-CZ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13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Základní proměnné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/>
              <a:t>Textové</a:t>
            </a:r>
            <a:r>
              <a:rPr lang="cs-CZ"/>
              <a:t>: </a:t>
            </a:r>
            <a:r>
              <a:rPr lang="cs-CZ" err="1"/>
              <a:t>string</a:t>
            </a:r>
            <a:r>
              <a:rPr lang="cs-CZ"/>
              <a:t>, </a:t>
            </a:r>
            <a:r>
              <a:rPr lang="cs-CZ" err="1"/>
              <a:t>char</a:t>
            </a:r>
            <a:endParaRPr lang="cs-CZ"/>
          </a:p>
          <a:p>
            <a:r>
              <a:rPr lang="cs-CZ" b="1"/>
              <a:t>Číselné</a:t>
            </a:r>
            <a:r>
              <a:rPr lang="cs-CZ"/>
              <a:t>: </a:t>
            </a:r>
          </a:p>
          <a:p>
            <a:pPr lvl="1"/>
            <a:r>
              <a:rPr lang="cs-CZ" b="1"/>
              <a:t>Celočíselné</a:t>
            </a:r>
            <a:r>
              <a:rPr lang="cs-CZ"/>
              <a:t>: </a:t>
            </a:r>
            <a:r>
              <a:rPr lang="cs-CZ" err="1"/>
              <a:t>int</a:t>
            </a:r>
            <a:r>
              <a:rPr lang="cs-CZ"/>
              <a:t>, long, </a:t>
            </a:r>
            <a:r>
              <a:rPr lang="cs-CZ" err="1"/>
              <a:t>short</a:t>
            </a:r>
            <a:endParaRPr lang="cs-CZ"/>
          </a:p>
          <a:p>
            <a:pPr lvl="1"/>
            <a:r>
              <a:rPr lang="cs-CZ" b="1"/>
              <a:t>S desetinným místem</a:t>
            </a:r>
            <a:r>
              <a:rPr lang="cs-CZ"/>
              <a:t>:  </a:t>
            </a:r>
            <a:r>
              <a:rPr lang="cs-CZ" err="1"/>
              <a:t>float</a:t>
            </a:r>
            <a:r>
              <a:rPr lang="cs-CZ"/>
              <a:t>, double</a:t>
            </a:r>
          </a:p>
          <a:p>
            <a:r>
              <a:rPr lang="cs-CZ" b="1"/>
              <a:t>Logické</a:t>
            </a:r>
            <a:r>
              <a:rPr lang="cs-CZ"/>
              <a:t>: </a:t>
            </a:r>
            <a:r>
              <a:rPr lang="cs-CZ" err="1"/>
              <a:t>bool</a:t>
            </a:r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0999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Základní práce s konzolí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4954" y="2603500"/>
            <a:ext cx="9052915" cy="3416300"/>
          </a:xfrm>
        </p:spPr>
        <p:txBody>
          <a:bodyPr>
            <a:normAutofit lnSpcReduction="10000"/>
          </a:bodyPr>
          <a:lstStyle/>
          <a:p>
            <a:pPr algn="just"/>
            <a:r>
              <a:rPr lang="cs-CZ"/>
              <a:t>S prací v konzoli budeme využívat knihovní třídu </a:t>
            </a:r>
            <a:r>
              <a:rPr lang="cs-CZ" err="1"/>
              <a:t>console</a:t>
            </a:r>
            <a:r>
              <a:rPr lang="cs-CZ"/>
              <a:t>. Pro nás budou nejdůležitější dvě funkce konzole: </a:t>
            </a:r>
            <a:r>
              <a:rPr lang="cs-CZ" b="1"/>
              <a:t>výpis </a:t>
            </a:r>
            <a:r>
              <a:rPr lang="cs-CZ"/>
              <a:t>a </a:t>
            </a:r>
            <a:r>
              <a:rPr lang="cs-CZ" b="1"/>
              <a:t>čtení</a:t>
            </a:r>
          </a:p>
          <a:p>
            <a:r>
              <a:rPr lang="cs-CZ" b="1"/>
              <a:t>Výpis hodnot:</a:t>
            </a:r>
          </a:p>
          <a:p>
            <a:pPr lvl="1"/>
            <a:r>
              <a:rPr lang="cs-CZ" err="1"/>
              <a:t>Console.WriteLine</a:t>
            </a:r>
            <a:r>
              <a:rPr lang="cs-CZ"/>
              <a:t>: Vypíše vždy na nový řádek</a:t>
            </a:r>
          </a:p>
          <a:p>
            <a:pPr lvl="1"/>
            <a:r>
              <a:rPr lang="cs-CZ" err="1"/>
              <a:t>Console.Write</a:t>
            </a:r>
            <a:r>
              <a:rPr lang="cs-CZ"/>
              <a:t>: Vypíše vždy na stejný řádek </a:t>
            </a:r>
          </a:p>
          <a:p>
            <a:r>
              <a:rPr lang="cs-CZ" b="1"/>
              <a:t>Zápis/načtení hodnot: </a:t>
            </a:r>
            <a:r>
              <a:rPr lang="cs-CZ"/>
              <a:t>Pozor na to, že vždy konzole vrací </a:t>
            </a:r>
            <a:r>
              <a:rPr lang="cs-CZ" err="1"/>
              <a:t>string</a:t>
            </a:r>
            <a:r>
              <a:rPr lang="cs-CZ"/>
              <a:t>!!!</a:t>
            </a:r>
          </a:p>
          <a:p>
            <a:pPr lvl="1"/>
            <a:r>
              <a:rPr lang="cs-CZ" err="1"/>
              <a:t>Console.ReadLine</a:t>
            </a:r>
            <a:r>
              <a:rPr lang="cs-CZ"/>
              <a:t>: Načte nám celý řádek, kdy  čtení ukončí </a:t>
            </a:r>
            <a:r>
              <a:rPr lang="cs-CZ" err="1"/>
              <a:t>entrem</a:t>
            </a:r>
            <a:endParaRPr lang="cs-CZ"/>
          </a:p>
          <a:p>
            <a:pPr lvl="1" algn="just"/>
            <a:r>
              <a:rPr lang="cs-CZ" err="1"/>
              <a:t>Console.Read</a:t>
            </a:r>
            <a:r>
              <a:rPr lang="cs-CZ"/>
              <a:t>: Čte jeden řetězec, kdy se nemusí využít </a:t>
            </a:r>
            <a:r>
              <a:rPr lang="cs-CZ" err="1"/>
              <a:t>convert</a:t>
            </a:r>
            <a:r>
              <a:rPr lang="cs-CZ"/>
              <a:t>, když se načítá číslo</a:t>
            </a:r>
          </a:p>
          <a:p>
            <a:pPr lvl="1"/>
            <a:r>
              <a:rPr lang="cs-CZ" err="1"/>
              <a:t>Console.ReadKey</a:t>
            </a:r>
            <a:r>
              <a:rPr lang="cs-CZ"/>
              <a:t>: Čte jen jeden znak vložený do konzole</a:t>
            </a:r>
          </a:p>
        </p:txBody>
      </p:sp>
    </p:spTree>
    <p:extLst>
      <p:ext uri="{BB962C8B-B14F-4D97-AF65-F5344CB8AC3E}">
        <p14:creationId xmlns:p14="http://schemas.microsoft.com/office/powerpoint/2010/main" val="123015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Podmínky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4954" y="2603500"/>
            <a:ext cx="8982577" cy="3416300"/>
          </a:xfrm>
        </p:spPr>
        <p:txBody>
          <a:bodyPr/>
          <a:lstStyle/>
          <a:p>
            <a:r>
              <a:rPr lang="cs-CZ"/>
              <a:t>Podmínky se využívají k přidání logiky do vašeho programu/algoritmu</a:t>
            </a:r>
          </a:p>
          <a:p>
            <a:r>
              <a:rPr lang="cs-CZ"/>
              <a:t>Jsou dvě možnosti přidání podmínek do algoritmu:</a:t>
            </a:r>
          </a:p>
          <a:p>
            <a:pPr lvl="1"/>
            <a:r>
              <a:rPr lang="cs-CZ" b="1"/>
              <a:t>První</a:t>
            </a:r>
            <a:r>
              <a:rPr lang="cs-CZ"/>
              <a:t>: Pomocí skládání </a:t>
            </a:r>
            <a:r>
              <a:rPr lang="cs-CZ" err="1"/>
              <a:t>if</a:t>
            </a:r>
            <a:r>
              <a:rPr lang="cs-CZ"/>
              <a:t>(podmínka) </a:t>
            </a:r>
            <a:r>
              <a:rPr lang="cs-CZ">
                <a:sym typeface="Wingdings" panose="05000000000000000000" pitchFamily="2" charset="2"/>
              </a:rPr>
              <a:t> </a:t>
            </a:r>
            <a:r>
              <a:rPr lang="cs-CZ" err="1">
                <a:sym typeface="Wingdings" panose="05000000000000000000" pitchFamily="2" charset="2"/>
              </a:rPr>
              <a:t>else</a:t>
            </a:r>
            <a:r>
              <a:rPr lang="cs-CZ">
                <a:sym typeface="Wingdings" panose="05000000000000000000" pitchFamily="2" charset="2"/>
              </a:rPr>
              <a:t> </a:t>
            </a:r>
            <a:r>
              <a:rPr lang="cs-CZ" err="1">
                <a:sym typeface="Wingdings" panose="05000000000000000000" pitchFamily="2" charset="2"/>
              </a:rPr>
              <a:t>if</a:t>
            </a:r>
            <a:r>
              <a:rPr lang="cs-CZ">
                <a:sym typeface="Wingdings" panose="05000000000000000000" pitchFamily="2" charset="2"/>
              </a:rPr>
              <a:t>(další podmínka)  </a:t>
            </a:r>
            <a:r>
              <a:rPr lang="cs-CZ" err="1">
                <a:sym typeface="Wingdings" panose="05000000000000000000" pitchFamily="2" charset="2"/>
              </a:rPr>
              <a:t>else</a:t>
            </a:r>
            <a:r>
              <a:rPr lang="cs-CZ">
                <a:sym typeface="Wingdings" panose="05000000000000000000" pitchFamily="2" charset="2"/>
              </a:rPr>
              <a:t> „vše ostatní“</a:t>
            </a:r>
          </a:p>
          <a:p>
            <a:pPr lvl="1"/>
            <a:r>
              <a:rPr lang="cs-CZ" b="1">
                <a:sym typeface="Wingdings" panose="05000000000000000000" pitchFamily="2" charset="2"/>
              </a:rPr>
              <a:t>Druhé</a:t>
            </a:r>
            <a:r>
              <a:rPr lang="cs-CZ">
                <a:sym typeface="Wingdings" panose="05000000000000000000" pitchFamily="2" charset="2"/>
              </a:rPr>
              <a:t>: Pomocí </a:t>
            </a:r>
            <a:r>
              <a:rPr lang="cs-CZ" err="1">
                <a:sym typeface="Wingdings" panose="05000000000000000000" pitchFamily="2" charset="2"/>
              </a:rPr>
              <a:t>switch</a:t>
            </a:r>
            <a:r>
              <a:rPr lang="cs-CZ">
                <a:sym typeface="Wingdings" panose="05000000000000000000" pitchFamily="2" charset="2"/>
              </a:rPr>
              <a:t> a case 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46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Podmínky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590" y="2919046"/>
            <a:ext cx="10862657" cy="303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5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Podmínky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4725" y="2343896"/>
            <a:ext cx="7921869" cy="411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0541" y="2949033"/>
            <a:ext cx="2793158" cy="476250"/>
          </a:xfrm>
        </p:spPr>
        <p:txBody>
          <a:bodyPr/>
          <a:lstStyle/>
          <a:p>
            <a:r>
              <a:rPr lang="cs-CZ"/>
              <a:t>Po</a:t>
            </a:r>
            <a:r>
              <a:rPr lang="cs-CZ" i="1"/>
              <a:t>dmí</a:t>
            </a:r>
            <a:r>
              <a:rPr lang="cs-CZ"/>
              <a:t>nky</a:t>
            </a:r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011" y="256151"/>
            <a:ext cx="3499338" cy="615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6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4454" y="935568"/>
            <a:ext cx="8761413" cy="706964"/>
          </a:xfrm>
        </p:spPr>
        <p:txBody>
          <a:bodyPr/>
          <a:lstStyle/>
          <a:p>
            <a:r>
              <a:rPr lang="cs-CZ"/>
              <a:t>C</a:t>
            </a:r>
            <a:r>
              <a:rPr lang="cs-CZ">
                <a:latin typeface="Century Gothic"/>
              </a:rPr>
              <a:t>ykly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276181" y="2681432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Cykly se v programování využívají k provedení stejné operace n-krát</a:t>
            </a:r>
          </a:p>
          <a:p>
            <a:r>
              <a:rPr lang="cs-CZ"/>
              <a:t>Máme dvě možnosti cyklů, které můžeme použít: </a:t>
            </a:r>
            <a:r>
              <a:rPr lang="cs-CZ" b="1" err="1"/>
              <a:t>for</a:t>
            </a:r>
            <a:r>
              <a:rPr lang="cs-CZ" b="1"/>
              <a:t> </a:t>
            </a:r>
            <a:r>
              <a:rPr lang="cs-CZ"/>
              <a:t>a </a:t>
            </a:r>
            <a:r>
              <a:rPr lang="cs-CZ" b="1" err="1"/>
              <a:t>while</a:t>
            </a:r>
            <a:r>
              <a:rPr lang="cs-CZ" b="1"/>
              <a:t> </a:t>
            </a:r>
          </a:p>
          <a:p>
            <a:r>
              <a:rPr lang="cs-CZ" err="1"/>
              <a:t>While</a:t>
            </a:r>
            <a:r>
              <a:rPr lang="cs-CZ"/>
              <a:t> může mít buď podmínku na začátku nebo na konci</a:t>
            </a:r>
          </a:p>
          <a:p>
            <a:r>
              <a:rPr lang="cs-CZ" err="1"/>
              <a:t>For</a:t>
            </a:r>
            <a:r>
              <a:rPr lang="cs-CZ"/>
              <a:t> má logiku cyklu v hlavičce zápisu </a:t>
            </a:r>
          </a:p>
        </p:txBody>
      </p:sp>
    </p:spTree>
    <p:extLst>
      <p:ext uri="{BB962C8B-B14F-4D97-AF65-F5344CB8AC3E}">
        <p14:creationId xmlns:p14="http://schemas.microsoft.com/office/powerpoint/2010/main" val="34698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Cykly </a:t>
            </a:r>
            <a:r>
              <a:rPr lang="cs-CZ" err="1"/>
              <a:t>for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err="1"/>
              <a:t>For</a:t>
            </a:r>
            <a:r>
              <a:rPr lang="cs-CZ"/>
              <a:t> cyklus je jedním ze dvou cyklů </a:t>
            </a:r>
          </a:p>
          <a:p>
            <a:r>
              <a:rPr lang="cs-CZ"/>
              <a:t>Má podmínku na začátku</a:t>
            </a:r>
          </a:p>
          <a:p>
            <a:r>
              <a:rPr lang="cs-CZ"/>
              <a:t>Provede se jen tehdy, kdy splňuje podmínku zapsanou v hlavičce</a:t>
            </a:r>
          </a:p>
          <a:p>
            <a:r>
              <a:rPr lang="cs-CZ"/>
              <a:t>V hlavičce má deklaraci proměnné, podmínku a práci s proměnnou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4967418"/>
            <a:ext cx="8825659" cy="10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7610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Cykly </a:t>
            </a:r>
            <a:r>
              <a:rPr lang="cs-CZ" err="1"/>
              <a:t>while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22830" y="2577123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Cyklus </a:t>
            </a:r>
            <a:r>
              <a:rPr lang="cs-CZ" err="1"/>
              <a:t>while</a:t>
            </a:r>
            <a:r>
              <a:rPr lang="cs-CZ"/>
              <a:t> je druhým typem cyklů</a:t>
            </a:r>
          </a:p>
          <a:p>
            <a:r>
              <a:rPr lang="cs-CZ"/>
              <a:t>Také má podmínku na začátku</a:t>
            </a:r>
          </a:p>
          <a:p>
            <a:r>
              <a:rPr lang="cs-CZ"/>
              <a:t>Provede se jen tehdy, kdy splňuje podmínku zapsanou v hlavičce</a:t>
            </a:r>
          </a:p>
          <a:p>
            <a:r>
              <a:rPr lang="cs-CZ"/>
              <a:t>V hlavičce má jen podmínku</a:t>
            </a:r>
          </a:p>
          <a:p>
            <a:r>
              <a:rPr lang="cs-CZ"/>
              <a:t> Deklaraci a práci s proměnou musí mít někde jinde v kódu </a:t>
            </a:r>
          </a:p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18" y="4700532"/>
            <a:ext cx="8761413" cy="156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384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Cykly doWhile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Cyklus </a:t>
            </a:r>
            <a:r>
              <a:rPr lang="cs-CZ" err="1"/>
              <a:t>doWhile</a:t>
            </a:r>
            <a:r>
              <a:rPr lang="cs-CZ"/>
              <a:t> je druhým zápisem cyklu </a:t>
            </a:r>
            <a:r>
              <a:rPr lang="cs-CZ" err="1"/>
              <a:t>while</a:t>
            </a:r>
            <a:endParaRPr lang="cs-CZ"/>
          </a:p>
          <a:p>
            <a:r>
              <a:rPr lang="cs-CZ"/>
              <a:t>Má podmínku na konci</a:t>
            </a:r>
          </a:p>
          <a:p>
            <a:r>
              <a:rPr lang="cs-CZ"/>
              <a:t>Provede se vždy minimálně jednou </a:t>
            </a:r>
          </a:p>
          <a:p>
            <a:r>
              <a:rPr lang="cs-CZ"/>
              <a:t>V patičce má jen podmínku</a:t>
            </a:r>
          </a:p>
          <a:p>
            <a:r>
              <a:rPr lang="cs-CZ"/>
              <a:t>Deklaraci a práci s proměnou musí mít někde jinde v kódu </a:t>
            </a:r>
          </a:p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4597268"/>
            <a:ext cx="8825659" cy="142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5089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Pole jsou stejných datových typů jako jsou proměnné </a:t>
            </a:r>
          </a:p>
          <a:p>
            <a:r>
              <a:rPr lang="cs-CZ"/>
              <a:t>Pole se využívají k uložení více proměnných stejného typu do jedné proměnné</a:t>
            </a:r>
          </a:p>
          <a:p>
            <a:r>
              <a:rPr lang="cs-CZ"/>
              <a:t>Pole může být jedno až trojrozměrné</a:t>
            </a:r>
          </a:p>
          <a:p>
            <a:r>
              <a:rPr lang="cs-CZ"/>
              <a:t>Pole začíná vždy od 0 takže velikost je vždy n-1. </a:t>
            </a:r>
          </a:p>
          <a:p>
            <a:pPr lvl="1"/>
            <a:r>
              <a:rPr lang="cs-CZ"/>
              <a:t>Př.(velikost 5, poslední index je 4)</a:t>
            </a:r>
          </a:p>
          <a:p>
            <a:r>
              <a:rPr lang="cs-CZ"/>
              <a:t>Pro přístup k dané pozici v poli se používají indexy</a:t>
            </a:r>
          </a:p>
        </p:txBody>
      </p:sp>
    </p:spTree>
    <p:extLst>
      <p:ext uri="{BB962C8B-B14F-4D97-AF65-F5344CB8AC3E}">
        <p14:creationId xmlns:p14="http://schemas.microsoft.com/office/powerpoint/2010/main" val="41391083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Pole můžeme vytvářet rovnou naplněné hodnotami a následně k nim můžeme přistupovat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805731"/>
            <a:ext cx="10039228" cy="116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9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16879" y="2603500"/>
            <a:ext cx="8663734" cy="12160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cs-CZ"/>
              <a:t>Pole můžeme také vytvořit s danou velikostí ale bez hodnot, ovšem hodnoty musíme následně dodat, abychom </a:t>
            </a:r>
            <a:r>
              <a:rPr lang="cs-CZ">
                <a:ea typeface="+mn-lt"/>
                <a:cs typeface="+mn-lt"/>
              </a:rPr>
              <a:t>k nim</a:t>
            </a:r>
            <a:r>
              <a:rPr lang="cs-CZ"/>
              <a:t> mohli následně přistupovat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4" y="3953677"/>
            <a:ext cx="10747732" cy="22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66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F82136AEE6D845B51BF3203E2355E9" ma:contentTypeVersion="4" ma:contentTypeDescription="Vytvoří nový dokument" ma:contentTypeScope="" ma:versionID="a4420c69829b445c2db279fd722ee8d5">
  <xsd:schema xmlns:xsd="http://www.w3.org/2001/XMLSchema" xmlns:xs="http://www.w3.org/2001/XMLSchema" xmlns:p="http://schemas.microsoft.com/office/2006/metadata/properties" xmlns:ns2="1a7aaced-daa8-41f2-84e2-caef5211d601" xmlns:ns3="d3d68c48-3b71-41a3-814d-b8f738919ffc" targetNamespace="http://schemas.microsoft.com/office/2006/metadata/properties" ma:root="true" ma:fieldsID="42727c6bb2e5e5046f43718250e72c64" ns2:_="" ns3:_="">
    <xsd:import namespace="1a7aaced-daa8-41f2-84e2-caef5211d601"/>
    <xsd:import namespace="d3d68c48-3b71-41a3-814d-b8f738919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aaced-daa8-41f2-84e2-caef5211d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68c48-3b71-41a3-814d-b8f738919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73BF27-C88E-45A6-B396-54BF65FD5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8B7104-E962-4DD1-B597-C92BFC458146}">
  <ds:schemaRefs>
    <ds:schemaRef ds:uri="1a7aaced-daa8-41f2-84e2-caef5211d601"/>
    <ds:schemaRef ds:uri="d3d68c48-3b71-41a3-814d-b8f738919f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09E49DC-BB6C-465F-8369-4C0D5D7655E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TM02900722[[fn=Zasedací síň]]</Template>
  <Application>Microsoft Office PowerPoint</Application>
  <PresentationFormat>Širokoúhlá obrazovka</PresentationFormat>
  <Slides>18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19" baseType="lpstr">
      <vt:lpstr>Zasedací místnost Ion</vt:lpstr>
      <vt:lpstr>C#</vt:lpstr>
      <vt:lpstr>Základní informace o jazyce C#</vt:lpstr>
      <vt:lpstr>Struktura jazyka C#</vt:lpstr>
      <vt:lpstr>Struktura jazyka C#</vt:lpstr>
      <vt:lpstr>Kompilátor (překladač)</vt:lpstr>
      <vt:lpstr>Základní proměnné</vt:lpstr>
      <vt:lpstr>Základní práce s konzolí</vt:lpstr>
      <vt:lpstr>Podmínky</vt:lpstr>
      <vt:lpstr>Podmínky</vt:lpstr>
      <vt:lpstr>Podmínky</vt:lpstr>
      <vt:lpstr>Podmínky</vt:lpstr>
      <vt:lpstr>Cykly</vt:lpstr>
      <vt:lpstr>Cykly for</vt:lpstr>
      <vt:lpstr>Cykly while</vt:lpstr>
      <vt:lpstr>Cykly doWhile</vt:lpstr>
      <vt:lpstr>Pole</vt:lpstr>
      <vt:lpstr>Pole</vt:lpstr>
      <vt:lpstr>Pole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</dc:title>
  <dc:creator>User</dc:creator>
  <cp:revision>2</cp:revision>
  <dcterms:created xsi:type="dcterms:W3CDTF">2022-10-10T11:45:43Z</dcterms:created>
  <dcterms:modified xsi:type="dcterms:W3CDTF">2026-01-19T19:42:16Z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0x01010067F82136AEE6D845B51BF3203E2355E9</vt:lpwstr>
  </property>
</Properties>
</file>
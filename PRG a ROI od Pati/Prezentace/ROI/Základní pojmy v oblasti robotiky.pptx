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150F37-658A-48EB-ADBD-2F7B38B440B8}" v="4" dt="2023-02-06T10:41:12.977"/>
    <p1510:client id="{65E02805-F539-45FF-A17D-DEB7BFDBFC4B}" v="2" dt="2023-02-17T09:10:38.0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síková Lucie" userId="S::lasikova.lucie@student.sposdk.cz::b76bc85a-66e2-4ba6-89be-3b585b4e39ae" providerId="AD" clId="Web-{65E02805-F539-45FF-A17D-DEB7BFDBFC4B}"/>
    <pc:docChg chg="modSld">
      <pc:chgData name="Lasíková Lucie" userId="S::lasikova.lucie@student.sposdk.cz::b76bc85a-66e2-4ba6-89be-3b585b4e39ae" providerId="AD" clId="Web-{65E02805-F539-45FF-A17D-DEB7BFDBFC4B}" dt="2023-02-17T09:10:38.063" v="1" actId="1076"/>
      <pc:docMkLst>
        <pc:docMk/>
      </pc:docMkLst>
      <pc:sldChg chg="modSp">
        <pc:chgData name="Lasíková Lucie" userId="S::lasikova.lucie@student.sposdk.cz::b76bc85a-66e2-4ba6-89be-3b585b4e39ae" providerId="AD" clId="Web-{65E02805-F539-45FF-A17D-DEB7BFDBFC4B}" dt="2023-02-17T09:10:38.063" v="1" actId="1076"/>
        <pc:sldMkLst>
          <pc:docMk/>
          <pc:sldMk cId="2750230841" sldId="257"/>
        </pc:sldMkLst>
        <pc:spChg chg="mod">
          <ac:chgData name="Lasíková Lucie" userId="S::lasikova.lucie@student.sposdk.cz::b76bc85a-66e2-4ba6-89be-3b585b4e39ae" providerId="AD" clId="Web-{65E02805-F539-45FF-A17D-DEB7BFDBFC4B}" dt="2023-02-17T09:10:38.063" v="1" actId="1076"/>
          <ac:spMkLst>
            <pc:docMk/>
            <pc:sldMk cId="2750230841" sldId="257"/>
            <ac:spMk id="3" creationId="{1ED67EDA-1D2C-CF06-8EE7-0130AF69463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CBC57CA-780B-4C82-863C-DBD7F6F3642A}" type="datetimeFigureOut">
              <a:rPr lang="cs-CZ" smtClean="0"/>
              <a:t>17.02.2023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929E4FCF-70D8-4C2E-85E1-EB383802317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01577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C57CA-780B-4C82-863C-DBD7F6F3642A}" type="datetimeFigureOut">
              <a:rPr lang="cs-CZ" smtClean="0"/>
              <a:t>17.02.2023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4FCF-70D8-4C2E-85E1-EB383802317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5261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C57CA-780B-4C82-863C-DBD7F6F3642A}" type="datetimeFigureOut">
              <a:rPr lang="cs-CZ" smtClean="0"/>
              <a:t>17.02.2023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4FCF-70D8-4C2E-85E1-EB383802317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5258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C57CA-780B-4C82-863C-DBD7F6F3642A}" type="datetimeFigureOut">
              <a:rPr lang="cs-CZ" smtClean="0"/>
              <a:t>17.02.2023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4FCF-70D8-4C2E-85E1-EB383802317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43500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C57CA-780B-4C82-863C-DBD7F6F3642A}" type="datetimeFigureOut">
              <a:rPr lang="cs-CZ" smtClean="0"/>
              <a:t>17.02.2023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4FCF-70D8-4C2E-85E1-EB383802317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76497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C57CA-780B-4C82-863C-DBD7F6F3642A}" type="datetimeFigureOut">
              <a:rPr lang="cs-CZ" smtClean="0"/>
              <a:t>17.02.2023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4FCF-70D8-4C2E-85E1-EB383802317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1853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C57CA-780B-4C82-863C-DBD7F6F3642A}" type="datetimeFigureOut">
              <a:rPr lang="cs-CZ" smtClean="0"/>
              <a:t>17.02.2023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4FCF-70D8-4C2E-85E1-EB383802317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5602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C57CA-780B-4C82-863C-DBD7F6F3642A}" type="datetimeFigureOut">
              <a:rPr lang="cs-CZ" smtClean="0"/>
              <a:t>17.02.2023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4FCF-70D8-4C2E-85E1-EB383802317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5677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C57CA-780B-4C82-863C-DBD7F6F3642A}" type="datetimeFigureOut">
              <a:rPr lang="cs-CZ" smtClean="0"/>
              <a:t>17.02.2023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4FCF-70D8-4C2E-85E1-EB383802317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28747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C57CA-780B-4C82-863C-DBD7F6F3642A}" type="datetimeFigureOut">
              <a:rPr lang="cs-CZ" smtClean="0"/>
              <a:t>17.02.2023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4FCF-70D8-4C2E-85E1-EB383802317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55086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C57CA-780B-4C82-863C-DBD7F6F3642A}" type="datetimeFigureOut">
              <a:rPr lang="cs-CZ" smtClean="0"/>
              <a:t>17.02.2023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4FCF-70D8-4C2E-85E1-EB383802317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164553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C57CA-780B-4C82-863C-DBD7F6F3642A}" type="datetimeFigureOut">
              <a:rPr lang="cs-CZ" smtClean="0"/>
              <a:t>17.02.2023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4FCF-70D8-4C2E-85E1-EB383802317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30746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C57CA-780B-4C82-863C-DBD7F6F3642A}" type="datetimeFigureOut">
              <a:rPr lang="cs-CZ" smtClean="0"/>
              <a:t>17.02.2023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4FCF-70D8-4C2E-85E1-EB383802317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27800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C57CA-780B-4C82-863C-DBD7F6F3642A}" type="datetimeFigureOut">
              <a:rPr lang="cs-CZ" smtClean="0"/>
              <a:t>17.02.2023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4FCF-70D8-4C2E-85E1-EB383802317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15489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C57CA-780B-4C82-863C-DBD7F6F3642A}" type="datetimeFigureOut">
              <a:rPr lang="cs-CZ" smtClean="0"/>
              <a:t>17.02.2023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4FCF-70D8-4C2E-85E1-EB383802317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277482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CBC57CA-780B-4C82-863C-DBD7F6F3642A}" type="datetimeFigureOut">
              <a:rPr lang="cs-CZ" smtClean="0"/>
              <a:t>17.02.2023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4FCF-70D8-4C2E-85E1-EB383802317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974992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CBC57CA-780B-4C82-863C-DBD7F6F3642A}" type="datetimeFigureOut">
              <a:rPr lang="cs-CZ" smtClean="0"/>
              <a:t>17.02.2023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4FCF-70D8-4C2E-85E1-EB383802317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84611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CBC57CA-780B-4C82-863C-DBD7F6F3642A}" type="datetimeFigureOut">
              <a:rPr lang="cs-CZ" smtClean="0"/>
              <a:t>17.02.2023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cs-CZ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929E4FCF-70D8-4C2E-85E1-EB383802317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48008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F28D092-26BA-0C4B-89AE-84F56ECF20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/>
              <a:t>Základní pojmy v oblasti robotiky</a:t>
            </a:r>
            <a:endParaRPr lang="cs-CZ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2F1E370-8D8E-A52A-1B05-A8BCA387C4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38651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74E61C-6332-547C-B5FA-5E81E0DB2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Průmyslová revoluce 1.0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ED67EDA-1D2C-CF06-8EE7-0130AF694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32075"/>
            <a:ext cx="8825659" cy="3416300"/>
          </a:xfrm>
        </p:spPr>
        <p:txBody>
          <a:bodyPr/>
          <a:lstStyle/>
          <a:p>
            <a:r>
              <a:rPr lang="cs-CZ"/>
              <a:t>Začala v 18. století a pokračovala až do 19.století kdy se začala rozvíjet ve Spojeném Království</a:t>
            </a:r>
          </a:p>
          <a:p>
            <a:r>
              <a:rPr lang="cs-CZ"/>
              <a:t>Vyznačuje se využitím síly stroje pohaněným párou v průmyslu</a:t>
            </a:r>
          </a:p>
          <a:p>
            <a:r>
              <a:rPr lang="cs-CZ"/>
              <a:t>Během této doby se mnohonásobně zvýšila produktivita práce jednoho pracujícího a zároveň se i zvýšil komfort a kvalita života</a:t>
            </a:r>
          </a:p>
          <a:p>
            <a:r>
              <a:rPr lang="cs-CZ"/>
              <a:t>V populaci jsme mohli zažít přeliv obyvatelstva do měst za nově vzniklými pracovními pozicemi v průmyslu =&gt; práce v továrnách</a:t>
            </a:r>
          </a:p>
          <a:p>
            <a:r>
              <a:rPr lang="cs-CZ"/>
              <a:t>Během přechodu z manufaktur na výrobu za pomocí parních strojů se zrušily pracovní pozice manuální výroby a přesunuly si se na údržbu strojů a na dělníky u pásu</a:t>
            </a:r>
          </a:p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50230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74E61C-6332-547C-B5FA-5E81E0DB2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Průmyslová revoluce 2.0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ED67EDA-1D2C-CF06-8EE7-0130AF694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/>
              <a:t>Začala v druhé polovině 19. stol a pokračovala až do začátků 20.stol (většinou se udává do začátku 1.sv)</a:t>
            </a:r>
          </a:p>
          <a:p>
            <a:r>
              <a:rPr lang="cs-CZ"/>
              <a:t>Během této doby zažíváme silný rozmach využití parní síly v přepravě kdy se v této době stavěly masivně železnice a zahajovala se elektrifikace kdy se začalo k výrobě el. využívat uhlí, dále se kladl důraz na rozšíření výroby a zpracování železné rudy</a:t>
            </a:r>
          </a:p>
          <a:p>
            <a:r>
              <a:rPr lang="cs-CZ"/>
              <a:t>V běžném životě se začal používat telegraf a začalo se experimentovat s létáním </a:t>
            </a:r>
          </a:p>
        </p:txBody>
      </p:sp>
    </p:spTree>
    <p:extLst>
      <p:ext uri="{BB962C8B-B14F-4D97-AF65-F5344CB8AC3E}">
        <p14:creationId xmlns:p14="http://schemas.microsoft.com/office/powerpoint/2010/main" val="485071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74E61C-6332-547C-B5FA-5E81E0DB2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Průmyslová revoluce 3.0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ED67EDA-1D2C-CF06-8EE7-0130AF694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3669709"/>
          </a:xfrm>
        </p:spPr>
        <p:txBody>
          <a:bodyPr>
            <a:normAutofit/>
          </a:bodyPr>
          <a:lstStyle/>
          <a:p>
            <a:r>
              <a:rPr lang="cs-CZ"/>
              <a:t>Začala v druhé polovině 20.stol kdy její začátek je spojován s objevením tranzistoru a během ní se začalo přecházet od mechanické práce přes analogovou až vyvrcholením na digitální</a:t>
            </a:r>
          </a:p>
          <a:p>
            <a:r>
              <a:rPr lang="cs-CZ"/>
              <a:t>Vyznačuje se dokončením elektrifikace a postupným navázáním výroby  na elektrickou energii od té mechanicky získávané párou. Začínají se ke konci objevovat sofistikovanější stroje </a:t>
            </a:r>
          </a:p>
          <a:p>
            <a:r>
              <a:rPr lang="cs-CZ"/>
              <a:t>Technologie se postupně stávají běžnou skutečností pro obyčejné lidi kdy postupně se stávají více a více dostupnými.</a:t>
            </a:r>
          </a:p>
          <a:p>
            <a:r>
              <a:rPr lang="cs-CZ"/>
              <a:t>Kdy opět probíhal přesun na trhu práce kdy postupně pracovní pozice na výrobní lince byly rušeny kvůli strojové automatizaci a zas byly otevírány pozice pro stavbu, údržbu, a programování strojů</a:t>
            </a:r>
          </a:p>
        </p:txBody>
      </p:sp>
    </p:spTree>
    <p:extLst>
      <p:ext uri="{BB962C8B-B14F-4D97-AF65-F5344CB8AC3E}">
        <p14:creationId xmlns:p14="http://schemas.microsoft.com/office/powerpoint/2010/main" val="512849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74E61C-6332-547C-B5FA-5E81E0DB2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Průmyslová revoluce 4.0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ED67EDA-1D2C-CF06-8EE7-0130AF694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/>
              <a:t>Začala v letech 2011/2013 dle pohledu a zdroje informací a pokračuje dodnes</a:t>
            </a:r>
          </a:p>
          <a:p>
            <a:r>
              <a:rPr lang="cs-CZ"/>
              <a:t>Vyznačuje se hlavně pokročilou automatizací, </a:t>
            </a:r>
            <a:r>
              <a:rPr lang="cs-CZ" err="1"/>
              <a:t>IoT</a:t>
            </a:r>
            <a:r>
              <a:rPr lang="cs-CZ"/>
              <a:t> (internet </a:t>
            </a:r>
            <a:r>
              <a:rPr lang="cs-CZ" err="1"/>
              <a:t>of</a:t>
            </a:r>
            <a:r>
              <a:rPr lang="cs-CZ"/>
              <a:t> </a:t>
            </a:r>
            <a:r>
              <a:rPr lang="cs-CZ" err="1"/>
              <a:t>things</a:t>
            </a:r>
            <a:r>
              <a:rPr lang="cs-CZ"/>
              <a:t>) řešením, postupným využitím autonomie.</a:t>
            </a:r>
          </a:p>
          <a:p>
            <a:r>
              <a:rPr lang="cs-CZ"/>
              <a:t>Pro běžný život je znázorněná digitálními zařízeními které stáje jsou více chytřejší schopnější a nacházejí se postupně ve více a více zařízeních </a:t>
            </a:r>
          </a:p>
          <a:p>
            <a:r>
              <a:rPr lang="cs-CZ"/>
              <a:t>Na pracovním trhu stále pokračuje přesun z manuálních pozic výroby na operátory strojů, techniky a programátory</a:t>
            </a:r>
          </a:p>
        </p:txBody>
      </p:sp>
    </p:spTree>
    <p:extLst>
      <p:ext uri="{BB962C8B-B14F-4D97-AF65-F5344CB8AC3E}">
        <p14:creationId xmlns:p14="http://schemas.microsoft.com/office/powerpoint/2010/main" val="2109894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061539-4B97-B026-FE50-91ABDD73A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Robot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9121785-ACFE-FA99-193C-577F9535F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/>
              <a:t>První použití slova Robot bylo v české divadelní hře R.U.R od Karla Čapka kdy ale slovo robot bylo vymyšleno jeho bratrem Josefem Čapkem</a:t>
            </a:r>
          </a:p>
          <a:p>
            <a:r>
              <a:rPr lang="cs-CZ"/>
              <a:t>Použití slova robot si většinou spojujeme s nějakým Androidem (stroji který se podobá lidem) viz </a:t>
            </a:r>
            <a:r>
              <a:rPr lang="cs-CZ">
                <a:solidFill>
                  <a:srgbClr val="444444"/>
                </a:solidFill>
                <a:effectLst/>
              </a:rPr>
              <a:t>Detroit: </a:t>
            </a:r>
            <a:r>
              <a:rPr lang="cs-CZ" err="1">
                <a:solidFill>
                  <a:srgbClr val="444444"/>
                </a:solidFill>
                <a:effectLst/>
              </a:rPr>
              <a:t>Become</a:t>
            </a:r>
            <a:r>
              <a:rPr lang="cs-CZ">
                <a:solidFill>
                  <a:srgbClr val="444444"/>
                </a:solidFill>
                <a:effectLst/>
              </a:rPr>
              <a:t> </a:t>
            </a:r>
            <a:r>
              <a:rPr lang="cs-CZ" err="1">
                <a:solidFill>
                  <a:srgbClr val="444444"/>
                </a:solidFill>
                <a:effectLst/>
              </a:rPr>
              <a:t>Human</a:t>
            </a:r>
            <a:endParaRPr lang="cs-CZ">
              <a:solidFill>
                <a:srgbClr val="444444"/>
              </a:solidFill>
              <a:effectLst/>
            </a:endParaRPr>
          </a:p>
          <a:p>
            <a:r>
              <a:rPr lang="cs-CZ">
                <a:solidFill>
                  <a:srgbClr val="444444"/>
                </a:solidFill>
                <a:effectLst/>
              </a:rPr>
              <a:t>Ale robot je jakýkoliv stroj který vykonává práci bez nutného vstupu člověka. </a:t>
            </a:r>
          </a:p>
          <a:p>
            <a:r>
              <a:rPr lang="cs-CZ">
                <a:solidFill>
                  <a:srgbClr val="444444"/>
                </a:solidFill>
              </a:rPr>
              <a:t>Přiklad může být robotické ruce na lince, celkově výrobní linka, automatizované stroje v dopravě atd</a:t>
            </a:r>
            <a:endParaRPr lang="cs-CZ">
              <a:solidFill>
                <a:srgbClr val="44444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41971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FD61CA8-FD26-E155-5586-E64375B2C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Kobot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D76DBFD-1C5D-7239-3BD0-16F074E4B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/>
              <a:t>Je specifická skupina „robotů“ </a:t>
            </a:r>
          </a:p>
          <a:p>
            <a:r>
              <a:rPr lang="cs-CZ"/>
              <a:t>Ti se používají ve výrobě ve spolupráci s člověkem </a:t>
            </a:r>
          </a:p>
          <a:p>
            <a:r>
              <a:rPr lang="cs-CZ"/>
              <a:t>Kdy samostatně člověk tu práci vykonávat může ale zároveň daný </a:t>
            </a:r>
            <a:r>
              <a:rPr lang="cs-CZ" err="1"/>
              <a:t>kobot</a:t>
            </a:r>
            <a:r>
              <a:rPr lang="cs-CZ"/>
              <a:t>/robot nemůže tím si ověříme že se jedná o </a:t>
            </a:r>
            <a:r>
              <a:rPr lang="cs-CZ" err="1"/>
              <a:t>kobota</a:t>
            </a:r>
            <a:endParaRPr lang="cs-CZ"/>
          </a:p>
          <a:p>
            <a:r>
              <a:rPr lang="cs-CZ"/>
              <a:t>Výhoda </a:t>
            </a:r>
            <a:r>
              <a:rPr lang="cs-CZ" err="1"/>
              <a:t>kobota</a:t>
            </a:r>
            <a:r>
              <a:rPr lang="cs-CZ"/>
              <a:t> je že znatelně zvyšuje efektivitu člověka ve výrobním procesu </a:t>
            </a:r>
          </a:p>
          <a:p>
            <a:r>
              <a:rPr lang="cs-CZ"/>
              <a:t>Příkladem je ruka držící objekt a následně člověk jen ten daný objekt upevní na dané místo (ruka držící dveře a člověk upevní dveře ke karosérii vozidla)</a:t>
            </a:r>
          </a:p>
        </p:txBody>
      </p:sp>
    </p:spTree>
    <p:extLst>
      <p:ext uri="{BB962C8B-B14F-4D97-AF65-F5344CB8AC3E}">
        <p14:creationId xmlns:p14="http://schemas.microsoft.com/office/powerpoint/2010/main" val="24011268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01D7E93BD70414F93A358753560809F" ma:contentTypeVersion="14" ma:contentTypeDescription="Vytvoří nový dokument" ma:contentTypeScope="" ma:versionID="b312a0a8eea1aa360118841a1aa8657e">
  <xsd:schema xmlns:xsd="http://www.w3.org/2001/XMLSchema" xmlns:xs="http://www.w3.org/2001/XMLSchema" xmlns:p="http://schemas.microsoft.com/office/2006/metadata/properties" xmlns:ns2="d393425e-d4e3-48f6-8952-b2c63cbae987" xmlns:ns3="f95d0b3a-5afd-4566-a540-f3ce1b5d529b" targetNamespace="http://schemas.microsoft.com/office/2006/metadata/properties" ma:root="true" ma:fieldsID="73cd50e221e806cc1046d880253c0d21" ns2:_="" ns3:_="">
    <xsd:import namespace="d393425e-d4e3-48f6-8952-b2c63cbae987"/>
    <xsd:import namespace="f95d0b3a-5afd-4566-a540-f3ce1b5d529b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93425e-d4e3-48f6-8952-b2c63cbae98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Značky obrázků" ma:readOnly="false" ma:fieldId="{5cf76f15-5ced-4ddc-b409-7134ff3c332f}" ma:taxonomyMulti="true" ma:sspId="c996778c-7e51-4d6c-87e8-025be02447e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5d0b3a-5afd-4566-a540-f3ce1b5d529b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8ce55b5f-388a-409f-9858-f29b5231979a}" ma:internalName="TaxCatchAll" ma:showField="CatchAllData" ma:web="f95d0b3a-5afd-4566-a540-f3ce1b5d52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95d0b3a-5afd-4566-a540-f3ce1b5d529b" xsi:nil="true"/>
    <lcf76f155ced4ddcb4097134ff3c332f xmlns="d393425e-d4e3-48f6-8952-b2c63cbae98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459E6DE-C117-4BFF-B761-E47A8D03A9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ECAE46-365E-4B95-8B7F-FB5C3618B4EC}"/>
</file>

<file path=customXml/itemProps3.xml><?xml version="1.0" encoding="utf-8"?>
<ds:datastoreItem xmlns:ds="http://schemas.openxmlformats.org/officeDocument/2006/customXml" ds:itemID="{CAA1C38A-A97C-407D-92F1-97CE796268A7}">
  <ds:schemaRefs>
    <ds:schemaRef ds:uri="d393425e-d4e3-48f6-8952-b2c63cbae987"/>
    <ds:schemaRef ds:uri="f95d0b3a-5afd-4566-a540-f3ce1b5d529b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Ion Boardroom</vt:lpstr>
      <vt:lpstr>Základní pojmy v oblasti robotiky</vt:lpstr>
      <vt:lpstr>Průmyslová revoluce 1.0</vt:lpstr>
      <vt:lpstr>Průmyslová revoluce 2.0</vt:lpstr>
      <vt:lpstr>Průmyslová revoluce 3.0</vt:lpstr>
      <vt:lpstr>Průmyslová revoluce 4.0</vt:lpstr>
      <vt:lpstr>Robot</vt:lpstr>
      <vt:lpstr>Kobot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Základní pojmy v oblasti robotiky</dc:title>
  <dc:creator>Patrik Bracinik</dc:creator>
  <cp:revision>1</cp:revision>
  <dcterms:created xsi:type="dcterms:W3CDTF">2023-02-06T10:33:05Z</dcterms:created>
  <dcterms:modified xsi:type="dcterms:W3CDTF">2023-02-17T09:10:52Z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0x010100001D7E93BD70414F93A358753560809F</vt:lpwstr>
  </property>
  <property fmtid="{D5CDD505-2E9C-101B-9397-08002B2CF9AE}" pid="3" name="MediaServiceImageTags">
    <vt:lpwstr/>
  </property>
</Properties>
</file>